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0000"/>
        </a:solidFill>
        <a:effectLst/>
      </p:bgPr>
    </p:bg>
    <p:spTree>
      <p:nvGrpSpPr>
        <p:cNvPr id="1" name=""/>
        <p:cNvGrpSpPr/>
        <p:nvPr/>
      </p:nvGrpSpPr>
      <p:grpSpPr>
        <a:xfrm>
          <a:off x="0" y="0"/>
          <a:ext cx="0" cy="0"/>
          <a:chOff x="0" y="0"/>
          <a:chExt cx="0" cy="0"/>
        </a:xfrm>
      </p:grpSpPr>
      <p:sp>
        <p:nvSpPr>
          <p:cNvPr id="2" name="TextBox 1"/>
          <p:cNvSpPr txBox="1"/>
          <p:nvPr/>
        </p:nvSpPr>
        <p:spPr>
          <a:xfrm>
            <a:off x="540000" y="792000"/>
            <a:ext cx="10080000" cy="900000"/>
          </a:xfrm>
          <a:prstGeom prst="rect">
            <a:avLst/>
          </a:prstGeom>
          <a:noFill/>
        </p:spPr>
        <p:txBody>
          <a:bodyPr wrap="square">
            <a:spAutoFit/>
          </a:bodyPr>
          <a:lstStyle/>
          <a:p>
            <a:pPr algn="ctr"/>
            <a:r>
              <a:rPr sz="4000" b="1">
                <a:solidFill>
                  <a:srgbClr val="FFFFFF"/>
                </a:solidFill>
                <a:latin typeface="Meiryo"/>
              </a:rPr>
              <a:t>PDF アプリ 仕様概要書</a:t>
            </a:r>
          </a:p>
        </p:txBody>
      </p:sp>
      <p:sp>
        <p:nvSpPr>
          <p:cNvPr id="3" name="TextBox 2"/>
          <p:cNvSpPr txBox="1"/>
          <p:nvPr/>
        </p:nvSpPr>
        <p:spPr>
          <a:xfrm>
            <a:off x="540000" y="1728000"/>
            <a:ext cx="10080000" cy="432000"/>
          </a:xfrm>
          <a:prstGeom prst="rect">
            <a:avLst/>
          </a:prstGeom>
          <a:noFill/>
        </p:spPr>
        <p:txBody>
          <a:bodyPr wrap="square">
            <a:spAutoFit/>
          </a:bodyPr>
          <a:lstStyle/>
          <a:p>
            <a:pPr algn="ctr"/>
            <a:r>
              <a:rPr sz="2200" b="0">
                <a:solidFill>
                  <a:srgbClr val="FFFFFF"/>
                </a:solidFill>
                <a:latin typeface="Meiryo"/>
              </a:rPr>
              <a:t>〜 システムを熟知していない方向け 〜</a:t>
            </a:r>
          </a:p>
        </p:txBody>
      </p:sp>
      <p:sp>
        <p:nvSpPr>
          <p:cNvPr id="4" name="TextBox 3"/>
          <p:cNvSpPr txBox="1"/>
          <p:nvPr/>
        </p:nvSpPr>
        <p:spPr>
          <a:xfrm>
            <a:off x="540000" y="2268000"/>
            <a:ext cx="10080000" cy="288000"/>
          </a:xfrm>
          <a:prstGeom prst="rect">
            <a:avLst/>
          </a:prstGeom>
          <a:noFill/>
        </p:spPr>
        <p:txBody>
          <a:bodyPr wrap="square">
            <a:spAutoFit/>
          </a:bodyPr>
          <a:lstStyle/>
          <a:p>
            <a:pPr algn="ctr"/>
            <a:r>
              <a:rPr sz="1400" b="0">
                <a:solidFill>
                  <a:srgbClr val="FFFFFF"/>
                </a:solidFill>
                <a:latin typeface="Meiryo"/>
              </a:rPr>
              <a:t>2026-06-23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目次</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2</a:t>
            </a:r>
          </a:p>
        </p:txBody>
      </p:sp>
      <p:sp>
        <p:nvSpPr>
          <p:cNvPr id="5" name="TextBox 4"/>
          <p:cNvSpPr txBox="1"/>
          <p:nvPr/>
        </p:nvSpPr>
        <p:spPr>
          <a:xfrm>
            <a:off x="720000" y="720000"/>
            <a:ext cx="9720000" cy="324000"/>
          </a:xfrm>
          <a:prstGeom prst="rect">
            <a:avLst/>
          </a:prstGeom>
          <a:noFill/>
        </p:spPr>
        <p:txBody>
          <a:bodyPr wrap="square">
            <a:spAutoFit/>
          </a:bodyPr>
          <a:lstStyle/>
          <a:p>
            <a:pPr algn="l"/>
            <a:r>
              <a:rPr sz="1600" b="0">
                <a:solidFill>
                  <a:srgbClr val="000000"/>
                </a:solidFill>
                <a:latin typeface="Meiryo"/>
              </a:rPr>
              <a:t>1.  アプリ概要 .............................................................. 3</a:t>
            </a:r>
          </a:p>
        </p:txBody>
      </p:sp>
      <p:sp>
        <p:nvSpPr>
          <p:cNvPr id="6" name="TextBox 5"/>
          <p:cNvSpPr txBox="1"/>
          <p:nvPr/>
        </p:nvSpPr>
        <p:spPr>
          <a:xfrm>
            <a:off x="720000" y="1026000"/>
            <a:ext cx="9720000" cy="324000"/>
          </a:xfrm>
          <a:prstGeom prst="rect">
            <a:avLst/>
          </a:prstGeom>
          <a:noFill/>
        </p:spPr>
        <p:txBody>
          <a:bodyPr wrap="square">
            <a:spAutoFit/>
          </a:bodyPr>
          <a:lstStyle/>
          <a:p>
            <a:pPr algn="l"/>
            <a:r>
              <a:rPr sz="1600" b="0">
                <a:solidFill>
                  <a:srgbClr val="000000"/>
                </a:solidFill>
                <a:latin typeface="Meiryo"/>
              </a:rPr>
              <a:t>2.  UIの自由度（固定 vs 変更可能） ................................ 5</a:t>
            </a:r>
          </a:p>
        </p:txBody>
      </p:sp>
      <p:sp>
        <p:nvSpPr>
          <p:cNvPr id="7" name="TextBox 6"/>
          <p:cNvSpPr txBox="1"/>
          <p:nvPr/>
        </p:nvSpPr>
        <p:spPr>
          <a:xfrm>
            <a:off x="720000" y="1332000"/>
            <a:ext cx="9720000" cy="324000"/>
          </a:xfrm>
          <a:prstGeom prst="rect">
            <a:avLst/>
          </a:prstGeom>
          <a:noFill/>
        </p:spPr>
        <p:txBody>
          <a:bodyPr wrap="square">
            <a:spAutoFit/>
          </a:bodyPr>
          <a:lstStyle/>
          <a:p>
            <a:pPr algn="l"/>
            <a:r>
              <a:rPr sz="1600" b="0">
                <a:solidFill>
                  <a:srgbClr val="000000"/>
                </a:solidFill>
                <a:latin typeface="Meiryo"/>
              </a:rPr>
              <a:t>3.  操作・インタラクション .............................................. 7</a:t>
            </a:r>
          </a:p>
        </p:txBody>
      </p:sp>
      <p:sp>
        <p:nvSpPr>
          <p:cNvPr id="8" name="TextBox 7"/>
          <p:cNvSpPr txBox="1"/>
          <p:nvPr/>
        </p:nvSpPr>
        <p:spPr>
          <a:xfrm>
            <a:off x="720000" y="1638000"/>
            <a:ext cx="9720000" cy="324000"/>
          </a:xfrm>
          <a:prstGeom prst="rect">
            <a:avLst/>
          </a:prstGeom>
          <a:noFill/>
        </p:spPr>
        <p:txBody>
          <a:bodyPr wrap="square">
            <a:spAutoFit/>
          </a:bodyPr>
          <a:lstStyle/>
          <a:p>
            <a:pPr algn="l"/>
            <a:r>
              <a:rPr sz="1600" b="0">
                <a:solidFill>
                  <a:srgbClr val="000000"/>
                </a:solidFill>
                <a:latin typeface="Meiryo"/>
              </a:rPr>
              <a:t>4.  PDFビューア 機能詳細 ................................................ 9</a:t>
            </a:r>
          </a:p>
        </p:txBody>
      </p:sp>
      <p:sp>
        <p:nvSpPr>
          <p:cNvPr id="9" name="TextBox 8"/>
          <p:cNvSpPr txBox="1"/>
          <p:nvPr/>
        </p:nvSpPr>
        <p:spPr>
          <a:xfrm>
            <a:off x="720000" y="1944000"/>
            <a:ext cx="9720000" cy="324000"/>
          </a:xfrm>
          <a:prstGeom prst="rect">
            <a:avLst/>
          </a:prstGeom>
          <a:noFill/>
        </p:spPr>
        <p:txBody>
          <a:bodyPr wrap="square">
            <a:spAutoFit/>
          </a:bodyPr>
          <a:lstStyle/>
          <a:p>
            <a:pPr algn="l"/>
            <a:r>
              <a:rPr sz="1600" b="0">
                <a:solidFill>
                  <a:srgbClr val="000000"/>
                </a:solidFill>
                <a:latin typeface="Meiryo"/>
              </a:rPr>
              <a:t>5.  補足（テーマ／言語切替・テスト用機能）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1. アプリ概要</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3</a:t>
            </a:r>
          </a:p>
        </p:txBody>
      </p:sp>
      <p:sp>
        <p:nvSpPr>
          <p:cNvPr id="5" name="TextBox 4"/>
          <p:cNvSpPr txBox="1"/>
          <p:nvPr/>
        </p:nvSpPr>
        <p:spPr>
          <a:xfrm>
            <a:off x="360000" y="612000"/>
            <a:ext cx="10440000" cy="692497"/>
          </a:xfrm>
          <a:prstGeom prst="rect">
            <a:avLst/>
          </a:prstGeom>
          <a:noFill/>
        </p:spPr>
        <p:txBody>
          <a:bodyPr wrap="square">
            <a:spAutoFit/>
          </a:bodyPr>
          <a:lstStyle/>
          <a:p>
            <a:pPr algn="l"/>
            <a:r>
              <a:rPr sz="1300" b="0" dirty="0" err="1">
                <a:solidFill>
                  <a:srgbClr val="000000"/>
                </a:solidFill>
                <a:latin typeface="Meiryo"/>
              </a:rPr>
              <a:t>本アプリは、PDFコンテンツをダウンロード・閲覧するため</a:t>
            </a:r>
            <a:r>
              <a:rPr lang="ja-JP" altLang="en-US" sz="1300">
                <a:solidFill>
                  <a:srgbClr val="000000"/>
                </a:solidFill>
                <a:latin typeface="Meiryo"/>
              </a:rPr>
              <a:t>の検証</a:t>
            </a:r>
            <a:r>
              <a:rPr sz="1300" b="0" dirty="0" err="1">
                <a:solidFill>
                  <a:srgbClr val="000000"/>
                </a:solidFill>
                <a:latin typeface="Meiryo"/>
              </a:rPr>
              <a:t>アプリです</a:t>
            </a:r>
            <a:r>
              <a:rPr sz="1300" b="0" dirty="0">
                <a:solidFill>
                  <a:srgbClr val="000000"/>
                </a:solidFill>
                <a:latin typeface="Meiryo"/>
              </a:rPr>
              <a:t>。
</a:t>
            </a:r>
            <a:r>
              <a:rPr sz="1300" b="0" dirty="0" err="1">
                <a:solidFill>
                  <a:srgbClr val="000000"/>
                </a:solidFill>
                <a:latin typeface="Meiryo"/>
              </a:rPr>
              <a:t>コンテンツ一覧から目的のPDF</a:t>
            </a:r>
            <a:r>
              <a:rPr lang="ja-JP" altLang="en-US" sz="1300" b="0">
                <a:solidFill>
                  <a:srgbClr val="000000"/>
                </a:solidFill>
                <a:latin typeface="Meiryo"/>
              </a:rPr>
              <a:t>（雑誌）</a:t>
            </a:r>
            <a:r>
              <a:rPr sz="1300" b="0" dirty="0" err="1">
                <a:solidFill>
                  <a:srgbClr val="000000"/>
                </a:solidFill>
                <a:latin typeface="Meiryo"/>
              </a:rPr>
              <a:t>をダウンロードし、PDFビューアで閲覧できます</a:t>
            </a:r>
            <a:r>
              <a:rPr sz="1300" b="0" dirty="0">
                <a:solidFill>
                  <a:srgbClr val="000000"/>
                </a:solidFill>
                <a:latin typeface="Meiryo"/>
              </a:rPr>
              <a:t>。
</a:t>
            </a:r>
            <a:r>
              <a:rPr sz="1300" b="0" dirty="0" err="1">
                <a:solidFill>
                  <a:srgbClr val="000000"/>
                </a:solidFill>
                <a:latin typeface="Meiryo"/>
              </a:rPr>
              <a:t>テーマ・言語の切替にも対応しており、ユーザーの好みに合わせた表示が可能です</a:t>
            </a:r>
            <a:r>
              <a:rPr sz="1300" b="0" dirty="0">
                <a:solidFill>
                  <a:srgbClr val="000000"/>
                </a:solidFill>
                <a:latin typeface="Meiryo"/>
              </a:rPr>
              <a:t>。</a:t>
            </a:r>
          </a:p>
        </p:txBody>
      </p:sp>
      <p:graphicFrame>
        <p:nvGraphicFramePr>
          <p:cNvPr id="6" name="Table 5"/>
          <p:cNvGraphicFramePr>
            <a:graphicFrameLocks noGrp="1"/>
          </p:cNvGraphicFramePr>
          <p:nvPr>
            <p:extLst>
              <p:ext uri="{D42A27DB-BD31-4B8C-83A1-F6EECF244321}">
                <p14:modId xmlns:p14="http://schemas.microsoft.com/office/powerpoint/2010/main" val="2254476274"/>
              </p:ext>
            </p:extLst>
          </p:nvPr>
        </p:nvGraphicFramePr>
        <p:xfrm>
          <a:off x="360000" y="1332000"/>
          <a:ext cx="9540000" cy="1645920"/>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0000"/>
                    </a:ext>
                  </a:extLst>
                </a:gridCol>
                <a:gridCol w="7920000">
                  <a:extLst>
                    <a:ext uri="{9D8B030D-6E8A-4147-A177-3AD203B41FA5}">
                      <a16:colId xmlns:a16="http://schemas.microsoft.com/office/drawing/2014/main" val="20001"/>
                    </a:ext>
                  </a:extLst>
                </a:gridCol>
              </a:tblGrid>
              <a:tr h="192000">
                <a:tc>
                  <a:txBody>
                    <a:bodyPr/>
                    <a:lstStyle/>
                    <a:p>
                      <a:r>
                        <a:rPr sz="1200" b="1">
                          <a:solidFill>
                            <a:srgbClr val="FFFFFF"/>
                          </a:solidFill>
                          <a:latin typeface="Meiryo"/>
                        </a:rPr>
                        <a:t>項目</a:t>
                      </a:r>
                    </a:p>
                  </a:txBody>
                  <a:tcPr>
                    <a:solidFill>
                      <a:srgbClr val="CC0000"/>
                    </a:solidFill>
                  </a:tcPr>
                </a:tc>
                <a:tc>
                  <a:txBody>
                    <a:bodyPr/>
                    <a:lstStyle/>
                    <a:p>
                      <a:r>
                        <a:rPr sz="1200" b="1">
                          <a:solidFill>
                            <a:srgbClr val="FFFFFF"/>
                          </a:solidFill>
                          <a:latin typeface="Meiryo"/>
                        </a:rPr>
                        <a:t>内容</a:t>
                      </a:r>
                    </a:p>
                  </a:txBody>
                  <a:tcPr>
                    <a:solidFill>
                      <a:srgbClr val="CC0000"/>
                    </a:solidFill>
                  </a:tcPr>
                </a:tc>
                <a:extLst>
                  <a:ext uri="{0D108BD9-81ED-4DB2-BD59-A6C34878D82A}">
                    <a16:rowId xmlns:a16="http://schemas.microsoft.com/office/drawing/2014/main" val="10000"/>
                  </a:ext>
                </a:extLst>
              </a:tr>
              <a:tr h="192000">
                <a:tc>
                  <a:txBody>
                    <a:bodyPr/>
                    <a:lstStyle/>
                    <a:p>
                      <a:r>
                        <a:rPr sz="1200" b="0">
                          <a:solidFill>
                            <a:srgbClr val="000000"/>
                          </a:solidFill>
                          <a:latin typeface="Meiryo"/>
                        </a:rPr>
                        <a:t>対応OS</a:t>
                      </a:r>
                    </a:p>
                  </a:txBody>
                  <a:tcPr>
                    <a:solidFill>
                      <a:srgbClr val="F5F5F5"/>
                    </a:solidFill>
                  </a:tcPr>
                </a:tc>
                <a:tc>
                  <a:txBody>
                    <a:bodyPr/>
                    <a:lstStyle/>
                    <a:p>
                      <a:r>
                        <a:rPr lang="en-US" sz="1200" b="0" dirty="0">
                          <a:solidFill>
                            <a:srgbClr val="000000"/>
                          </a:solidFill>
                          <a:latin typeface="Meiryo"/>
                        </a:rPr>
                        <a:t>iOS, </a:t>
                      </a:r>
                      <a:r>
                        <a:rPr sz="1200" b="0" dirty="0">
                          <a:solidFill>
                            <a:srgbClr val="000000"/>
                          </a:solidFill>
                          <a:latin typeface="Meiryo"/>
                        </a:rPr>
                        <a:t>Android</a:t>
                      </a:r>
                    </a:p>
                  </a:txBody>
                  <a:tcPr>
                    <a:solidFill>
                      <a:srgbClr val="F5F5F5"/>
                    </a:solidFill>
                  </a:tcPr>
                </a:tc>
                <a:extLst>
                  <a:ext uri="{0D108BD9-81ED-4DB2-BD59-A6C34878D82A}">
                    <a16:rowId xmlns:a16="http://schemas.microsoft.com/office/drawing/2014/main" val="10001"/>
                  </a:ext>
                </a:extLst>
              </a:tr>
              <a:tr h="192000">
                <a:tc>
                  <a:txBody>
                    <a:bodyPr/>
                    <a:lstStyle/>
                    <a:p>
                      <a:r>
                        <a:rPr sz="1200" b="0">
                          <a:solidFill>
                            <a:srgbClr val="000000"/>
                          </a:solidFill>
                          <a:latin typeface="Meiryo"/>
                        </a:rPr>
                        <a:t>通信</a:t>
                      </a:r>
                    </a:p>
                  </a:txBody>
                  <a:tcPr>
                    <a:solidFill>
                      <a:srgbClr val="FFFFFF"/>
                    </a:solidFill>
                  </a:tcPr>
                </a:tc>
                <a:tc>
                  <a:txBody>
                    <a:bodyPr/>
                    <a:lstStyle/>
                    <a:p>
                      <a:r>
                        <a:rPr sz="1200" b="0">
                          <a:solidFill>
                            <a:srgbClr val="000000"/>
                          </a:solidFill>
                          <a:latin typeface="Meiryo"/>
                        </a:rPr>
                        <a:t>必要（初回ダウンロード時のみ。閲覧はオフライン可）</a:t>
                      </a:r>
                    </a:p>
                  </a:txBody>
                  <a:tcPr>
                    <a:solidFill>
                      <a:srgbClr val="FFFFFF"/>
                    </a:solidFill>
                  </a:tcPr>
                </a:tc>
                <a:extLst>
                  <a:ext uri="{0D108BD9-81ED-4DB2-BD59-A6C34878D82A}">
                    <a16:rowId xmlns:a16="http://schemas.microsoft.com/office/drawing/2014/main" val="10002"/>
                  </a:ext>
                </a:extLst>
              </a:tr>
              <a:tr h="192000">
                <a:tc>
                  <a:txBody>
                    <a:bodyPr/>
                    <a:lstStyle/>
                    <a:p>
                      <a:r>
                        <a:rPr sz="1200" b="0">
                          <a:solidFill>
                            <a:srgbClr val="000000"/>
                          </a:solidFill>
                          <a:latin typeface="Meiryo"/>
                        </a:rPr>
                        <a:t>ストレージ</a:t>
                      </a:r>
                    </a:p>
                  </a:txBody>
                  <a:tcPr>
                    <a:solidFill>
                      <a:srgbClr val="F5F5F5"/>
                    </a:solidFill>
                  </a:tcPr>
                </a:tc>
                <a:tc>
                  <a:txBody>
                    <a:bodyPr/>
                    <a:lstStyle/>
                    <a:p>
                      <a:r>
                        <a:rPr sz="1200" b="0" dirty="0" err="1">
                          <a:solidFill>
                            <a:srgbClr val="000000"/>
                          </a:solidFill>
                          <a:highlight>
                            <a:srgbClr val="FFFF00"/>
                          </a:highlight>
                          <a:latin typeface="Meiryo"/>
                        </a:rPr>
                        <a:t>端末内</a:t>
                      </a:r>
                      <a:r>
                        <a:rPr sz="1200" b="0" dirty="0">
                          <a:solidFill>
                            <a:srgbClr val="000000"/>
                          </a:solidFill>
                          <a:highlight>
                            <a:srgbClr val="FFFF00"/>
                          </a:highlight>
                          <a:latin typeface="Meiryo"/>
                        </a:rPr>
                        <a:t> Documents </a:t>
                      </a:r>
                      <a:r>
                        <a:rPr sz="1200" b="0" dirty="0" err="1">
                          <a:solidFill>
                            <a:srgbClr val="000000"/>
                          </a:solidFill>
                          <a:highlight>
                            <a:srgbClr val="FFFF00"/>
                          </a:highlight>
                          <a:latin typeface="Meiryo"/>
                        </a:rPr>
                        <a:t>フォルダに保存</a:t>
                      </a:r>
                      <a:endParaRPr sz="1200" b="0" dirty="0">
                        <a:solidFill>
                          <a:srgbClr val="000000"/>
                        </a:solidFill>
                        <a:highlight>
                          <a:srgbClr val="FFFF00"/>
                        </a:highlight>
                        <a:latin typeface="Meiryo"/>
                      </a:endParaRPr>
                    </a:p>
                  </a:txBody>
                  <a:tcPr>
                    <a:solidFill>
                      <a:srgbClr val="F5F5F5"/>
                    </a:solidFill>
                  </a:tcPr>
                </a:tc>
                <a:extLst>
                  <a:ext uri="{0D108BD9-81ED-4DB2-BD59-A6C34878D82A}">
                    <a16:rowId xmlns:a16="http://schemas.microsoft.com/office/drawing/2014/main" val="10003"/>
                  </a:ext>
                </a:extLst>
              </a:tr>
              <a:tr h="192000">
                <a:tc>
                  <a:txBody>
                    <a:bodyPr/>
                    <a:lstStyle/>
                    <a:p>
                      <a:r>
                        <a:rPr sz="1200" b="0">
                          <a:solidFill>
                            <a:srgbClr val="000000"/>
                          </a:solidFill>
                          <a:latin typeface="Meiryo"/>
                        </a:rPr>
                        <a:t>表示言語</a:t>
                      </a:r>
                    </a:p>
                  </a:txBody>
                  <a:tcPr>
                    <a:solidFill>
                      <a:srgbClr val="FFFFFF"/>
                    </a:solidFill>
                  </a:tcPr>
                </a:tc>
                <a:tc>
                  <a:txBody>
                    <a:bodyPr/>
                    <a:lstStyle/>
                    <a:p>
                      <a:r>
                        <a:rPr sz="1200" b="0">
                          <a:solidFill>
                            <a:srgbClr val="000000"/>
                          </a:solidFill>
                          <a:latin typeface="Meiryo"/>
                        </a:rPr>
                        <a:t>日本語・英語（アプリ内で切替可能）</a:t>
                      </a:r>
                    </a:p>
                  </a:txBody>
                  <a:tcPr>
                    <a:solidFill>
                      <a:srgbClr val="FFFFFF"/>
                    </a:solidFill>
                  </a:tcPr>
                </a:tc>
                <a:extLst>
                  <a:ext uri="{0D108BD9-81ED-4DB2-BD59-A6C34878D82A}">
                    <a16:rowId xmlns:a16="http://schemas.microsoft.com/office/drawing/2014/main" val="10004"/>
                  </a:ext>
                </a:extLst>
              </a:tr>
              <a:tr h="192000">
                <a:tc>
                  <a:txBody>
                    <a:bodyPr/>
                    <a:lstStyle/>
                    <a:p>
                      <a:r>
                        <a:rPr sz="1200" b="0">
                          <a:solidFill>
                            <a:srgbClr val="000000"/>
                          </a:solidFill>
                          <a:latin typeface="Meiryo"/>
                        </a:rPr>
                        <a:t>テーマ</a:t>
                      </a:r>
                    </a:p>
                  </a:txBody>
                  <a:tcPr>
                    <a:solidFill>
                      <a:srgbClr val="F5F5F5"/>
                    </a:solidFill>
                  </a:tcPr>
                </a:tc>
                <a:tc>
                  <a:txBody>
                    <a:bodyPr/>
                    <a:lstStyle/>
                    <a:p>
                      <a:r>
                        <a:rPr sz="1200" b="0" dirty="0" err="1">
                          <a:solidFill>
                            <a:srgbClr val="000000"/>
                          </a:solidFill>
                          <a:latin typeface="Meiryo"/>
                        </a:rPr>
                        <a:t>ライト</a:t>
                      </a:r>
                      <a:r>
                        <a:rPr sz="1200" b="0" dirty="0">
                          <a:solidFill>
                            <a:srgbClr val="000000"/>
                          </a:solidFill>
                          <a:latin typeface="Meiryo"/>
                        </a:rPr>
                        <a:t> / </a:t>
                      </a:r>
                      <a:r>
                        <a:rPr sz="1200" b="0" dirty="0" err="1">
                          <a:solidFill>
                            <a:srgbClr val="000000"/>
                          </a:solidFill>
                          <a:latin typeface="Meiryo"/>
                        </a:rPr>
                        <a:t>ダーク</a:t>
                      </a:r>
                      <a:r>
                        <a:rPr sz="1200" b="0" dirty="0">
                          <a:solidFill>
                            <a:srgbClr val="000000"/>
                          </a:solidFill>
                          <a:latin typeface="Meiryo"/>
                        </a:rPr>
                        <a:t> / </a:t>
                      </a:r>
                      <a:r>
                        <a:rPr sz="1200" b="0" dirty="0" err="1">
                          <a:solidFill>
                            <a:srgbClr val="000000"/>
                          </a:solidFill>
                          <a:latin typeface="Meiryo"/>
                        </a:rPr>
                        <a:t>システム連動（アプリ内で切替可能</a:t>
                      </a:r>
                      <a:r>
                        <a:rPr sz="1200" b="0" dirty="0">
                          <a:solidFill>
                            <a:srgbClr val="000000"/>
                          </a:solidFill>
                          <a:latin typeface="Meiryo"/>
                        </a:rPr>
                        <a:t>）</a:t>
                      </a:r>
                    </a:p>
                  </a:txBody>
                  <a:tcPr>
                    <a:solidFill>
                      <a:srgbClr val="F5F5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画面フロー</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4</a:t>
            </a:r>
          </a:p>
        </p:txBody>
      </p:sp>
      <p:sp>
        <p:nvSpPr>
          <p:cNvPr id="5" name="Rectangle 4"/>
          <p:cNvSpPr/>
          <p:nvPr/>
        </p:nvSpPr>
        <p:spPr>
          <a:xfrm>
            <a:off x="540000" y="900000"/>
            <a:ext cx="2700000" cy="1080000"/>
          </a:xfrm>
          <a:prstGeom prst="rect">
            <a:avLst/>
          </a:prstGeom>
          <a:solidFill>
            <a:srgbClr val="F5F5F5"/>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0000" y="900000"/>
            <a:ext cx="2700000" cy="270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900000"/>
            <a:ext cx="2556000" cy="270000"/>
          </a:xfrm>
          <a:prstGeom prst="rect">
            <a:avLst/>
          </a:prstGeom>
          <a:noFill/>
        </p:spPr>
        <p:txBody>
          <a:bodyPr wrap="square">
            <a:spAutoFit/>
          </a:bodyPr>
          <a:lstStyle/>
          <a:p>
            <a:pPr algn="l"/>
            <a:r>
              <a:rPr sz="1300" b="1">
                <a:solidFill>
                  <a:srgbClr val="FFFFFF"/>
                </a:solidFill>
                <a:latin typeface="Meiryo"/>
              </a:rPr>
              <a:t>① コンテンツ一覧</a:t>
            </a:r>
          </a:p>
        </p:txBody>
      </p:sp>
      <p:sp>
        <p:nvSpPr>
          <p:cNvPr id="8" name="TextBox 7"/>
          <p:cNvSpPr txBox="1"/>
          <p:nvPr/>
        </p:nvSpPr>
        <p:spPr>
          <a:xfrm>
            <a:off x="648000" y="1206000"/>
            <a:ext cx="2484000" cy="720000"/>
          </a:xfrm>
          <a:prstGeom prst="rect">
            <a:avLst/>
          </a:prstGeom>
          <a:noFill/>
        </p:spPr>
        <p:txBody>
          <a:bodyPr wrap="square">
            <a:spAutoFit/>
          </a:bodyPr>
          <a:lstStyle/>
          <a:p>
            <a:pPr algn="l"/>
            <a:r>
              <a:rPr sz="1200" b="0">
                <a:solidFill>
                  <a:srgbClr val="000000"/>
                </a:solidFill>
                <a:latin typeface="Meiryo"/>
              </a:rPr>
              <a:t>・コンテンツ一覧の確認
・PDFのダウンロード
・テーマ・言語切替</a:t>
            </a:r>
          </a:p>
        </p:txBody>
      </p:sp>
      <p:sp>
        <p:nvSpPr>
          <p:cNvPr id="9" name="Rectangle 8"/>
          <p:cNvSpPr/>
          <p:nvPr/>
        </p:nvSpPr>
        <p:spPr>
          <a:xfrm>
            <a:off x="4140000" y="900000"/>
            <a:ext cx="2700000" cy="1080000"/>
          </a:xfrm>
          <a:prstGeom prst="rect">
            <a:avLst/>
          </a:prstGeom>
          <a:solidFill>
            <a:srgbClr val="F5F5F5"/>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40000" y="900000"/>
            <a:ext cx="2700000" cy="270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12000" y="900000"/>
            <a:ext cx="2556000" cy="270000"/>
          </a:xfrm>
          <a:prstGeom prst="rect">
            <a:avLst/>
          </a:prstGeom>
          <a:noFill/>
        </p:spPr>
        <p:txBody>
          <a:bodyPr wrap="square">
            <a:spAutoFit/>
          </a:bodyPr>
          <a:lstStyle/>
          <a:p>
            <a:pPr algn="l"/>
            <a:r>
              <a:rPr sz="1300" b="1">
                <a:solidFill>
                  <a:srgbClr val="FFFFFF"/>
                </a:solidFill>
                <a:latin typeface="Meiryo"/>
              </a:rPr>
              <a:t>② PDFビューア</a:t>
            </a:r>
          </a:p>
        </p:txBody>
      </p:sp>
      <p:sp>
        <p:nvSpPr>
          <p:cNvPr id="12" name="TextBox 11"/>
          <p:cNvSpPr txBox="1"/>
          <p:nvPr/>
        </p:nvSpPr>
        <p:spPr>
          <a:xfrm>
            <a:off x="4248000" y="1206000"/>
            <a:ext cx="2484000" cy="830997"/>
          </a:xfrm>
          <a:prstGeom prst="rect">
            <a:avLst/>
          </a:prstGeom>
          <a:noFill/>
        </p:spPr>
        <p:txBody>
          <a:bodyPr wrap="square">
            <a:spAutoFit/>
          </a:bodyPr>
          <a:lstStyle/>
          <a:p>
            <a:pPr algn="l"/>
            <a:r>
              <a:rPr sz="1200" b="0" dirty="0">
                <a:solidFill>
                  <a:srgbClr val="000000"/>
                </a:solidFill>
                <a:latin typeface="Meiryo"/>
              </a:rPr>
              <a:t>・</a:t>
            </a:r>
            <a:r>
              <a:rPr sz="1200" b="0" dirty="0" err="1">
                <a:solidFill>
                  <a:srgbClr val="000000"/>
                </a:solidFill>
                <a:latin typeface="Meiryo"/>
              </a:rPr>
              <a:t>PDFの閲覧</a:t>
            </a:r>
            <a:r>
              <a:rPr sz="1200" b="0" dirty="0">
                <a:solidFill>
                  <a:srgbClr val="000000"/>
                </a:solidFill>
                <a:latin typeface="Meiryo"/>
              </a:rPr>
              <a:t>
・</a:t>
            </a:r>
            <a:r>
              <a:rPr sz="1200" b="0" dirty="0" err="1">
                <a:solidFill>
                  <a:srgbClr val="000000"/>
                </a:solidFill>
                <a:latin typeface="Meiryo"/>
              </a:rPr>
              <a:t>ページ操作・ズーム</a:t>
            </a:r>
            <a:r>
              <a:rPr sz="1200" b="0" dirty="0">
                <a:solidFill>
                  <a:srgbClr val="000000"/>
                </a:solidFill>
                <a:latin typeface="Meiryo"/>
              </a:rPr>
              <a:t>
・</a:t>
            </a:r>
            <a:r>
              <a:rPr sz="1200" b="0" dirty="0" err="1">
                <a:solidFill>
                  <a:srgbClr val="000000"/>
                </a:solidFill>
                <a:latin typeface="Meiryo"/>
              </a:rPr>
              <a:t>ブックマーク</a:t>
            </a:r>
            <a:endParaRPr lang="en-US" sz="1200" b="0" dirty="0">
              <a:solidFill>
                <a:srgbClr val="000000"/>
              </a:solidFill>
              <a:latin typeface="Meiryo"/>
            </a:endParaRPr>
          </a:p>
          <a:p>
            <a:pPr algn="l"/>
            <a:r>
              <a:rPr sz="1200" b="0" dirty="0">
                <a:solidFill>
                  <a:srgbClr val="000000"/>
                </a:solidFill>
                <a:latin typeface="Meiryo"/>
              </a:rPr>
              <a:t>・</a:t>
            </a:r>
            <a:r>
              <a:rPr sz="1200" b="0" dirty="0" err="1">
                <a:solidFill>
                  <a:srgbClr val="000000"/>
                </a:solidFill>
                <a:latin typeface="Meiryo"/>
              </a:rPr>
              <a:t>検索</a:t>
            </a:r>
            <a:endParaRPr sz="1200" b="0" dirty="0">
              <a:solidFill>
                <a:srgbClr val="000000"/>
              </a:solidFill>
              <a:latin typeface="Meiryo"/>
            </a:endParaRPr>
          </a:p>
        </p:txBody>
      </p:sp>
      <p:sp>
        <p:nvSpPr>
          <p:cNvPr id="13" name="Rectangle 12"/>
          <p:cNvSpPr/>
          <p:nvPr/>
        </p:nvSpPr>
        <p:spPr>
          <a:xfrm>
            <a:off x="7740000" y="900000"/>
            <a:ext cx="2700000" cy="1080000"/>
          </a:xfrm>
          <a:prstGeom prst="rect">
            <a:avLst/>
          </a:prstGeom>
          <a:solidFill>
            <a:srgbClr val="F5F5F5"/>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40000" y="900000"/>
            <a:ext cx="2700000" cy="270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2000" y="900000"/>
            <a:ext cx="2556000" cy="270000"/>
          </a:xfrm>
          <a:prstGeom prst="rect">
            <a:avLst/>
          </a:prstGeom>
          <a:noFill/>
        </p:spPr>
        <p:txBody>
          <a:bodyPr wrap="square">
            <a:spAutoFit/>
          </a:bodyPr>
          <a:lstStyle/>
          <a:p>
            <a:pPr algn="l"/>
            <a:r>
              <a:rPr sz="1300" b="1">
                <a:solidFill>
                  <a:srgbClr val="FFFFFF"/>
                </a:solidFill>
                <a:latin typeface="Meiryo"/>
              </a:rPr>
              <a:t>③ WebView</a:t>
            </a:r>
          </a:p>
        </p:txBody>
      </p:sp>
      <p:sp>
        <p:nvSpPr>
          <p:cNvPr id="16" name="TextBox 15"/>
          <p:cNvSpPr txBox="1"/>
          <p:nvPr/>
        </p:nvSpPr>
        <p:spPr>
          <a:xfrm>
            <a:off x="7848000" y="1206000"/>
            <a:ext cx="2484000" cy="646331"/>
          </a:xfrm>
          <a:prstGeom prst="rect">
            <a:avLst/>
          </a:prstGeom>
          <a:noFill/>
        </p:spPr>
        <p:txBody>
          <a:bodyPr wrap="square">
            <a:spAutoFit/>
          </a:bodyPr>
          <a:lstStyle/>
          <a:p>
            <a:pPr algn="l"/>
            <a:r>
              <a:rPr sz="1200" b="0" dirty="0">
                <a:solidFill>
                  <a:srgbClr val="000000"/>
                </a:solidFill>
                <a:latin typeface="Meiryo"/>
              </a:rPr>
              <a:t>・</a:t>
            </a:r>
            <a:r>
              <a:rPr sz="1200" b="0" dirty="0" err="1">
                <a:solidFill>
                  <a:srgbClr val="000000"/>
                </a:solidFill>
                <a:latin typeface="Meiryo"/>
              </a:rPr>
              <a:t>PDF内URLリンクを</a:t>
            </a:r>
            <a:r>
              <a:rPr sz="1200" b="0" dirty="0">
                <a:solidFill>
                  <a:srgbClr val="000000"/>
                </a:solidFill>
                <a:latin typeface="Meiryo"/>
              </a:rPr>
              <a:t>
　</a:t>
            </a:r>
            <a:r>
              <a:rPr sz="1200" b="0" dirty="0" err="1">
                <a:solidFill>
                  <a:srgbClr val="000000"/>
                </a:solidFill>
                <a:latin typeface="Meiryo"/>
              </a:rPr>
              <a:t>アプリ内で表示</a:t>
            </a:r>
            <a:r>
              <a:rPr sz="1200" b="0" dirty="0">
                <a:solidFill>
                  <a:srgbClr val="000000"/>
                </a:solidFill>
                <a:latin typeface="Meiryo"/>
              </a:rPr>
              <a:t>
・</a:t>
            </a:r>
            <a:r>
              <a:rPr sz="1200" b="0" dirty="0" err="1">
                <a:solidFill>
                  <a:srgbClr val="000000"/>
                </a:solidFill>
                <a:latin typeface="Meiryo"/>
              </a:rPr>
              <a:t>自動遷移・手動戻れる</a:t>
            </a:r>
            <a:endParaRPr sz="1200" b="0" dirty="0">
              <a:solidFill>
                <a:srgbClr val="000000"/>
              </a:solidFill>
              <a:latin typeface="Meiryo"/>
            </a:endParaRPr>
          </a:p>
        </p:txBody>
      </p:sp>
      <p:sp>
        <p:nvSpPr>
          <p:cNvPr id="17" name="TextBox 16"/>
          <p:cNvSpPr txBox="1"/>
          <p:nvPr/>
        </p:nvSpPr>
        <p:spPr>
          <a:xfrm>
            <a:off x="3348000" y="1296000"/>
            <a:ext cx="720000" cy="360000"/>
          </a:xfrm>
          <a:prstGeom prst="rect">
            <a:avLst/>
          </a:prstGeom>
          <a:noFill/>
        </p:spPr>
        <p:txBody>
          <a:bodyPr wrap="square">
            <a:spAutoFit/>
          </a:bodyPr>
          <a:lstStyle/>
          <a:p>
            <a:pPr algn="ctr"/>
            <a:r>
              <a:rPr sz="2600" b="0">
                <a:solidFill>
                  <a:srgbClr val="CC0000"/>
                </a:solidFill>
                <a:latin typeface="Meiryo"/>
              </a:rPr>
              <a:t>▶</a:t>
            </a:r>
          </a:p>
        </p:txBody>
      </p:sp>
      <p:sp>
        <p:nvSpPr>
          <p:cNvPr id="18" name="TextBox 17"/>
          <p:cNvSpPr txBox="1"/>
          <p:nvPr/>
        </p:nvSpPr>
        <p:spPr>
          <a:xfrm>
            <a:off x="6948000" y="1296000"/>
            <a:ext cx="720000" cy="360000"/>
          </a:xfrm>
          <a:prstGeom prst="rect">
            <a:avLst/>
          </a:prstGeom>
          <a:noFill/>
        </p:spPr>
        <p:txBody>
          <a:bodyPr wrap="square">
            <a:spAutoFit/>
          </a:bodyPr>
          <a:lstStyle/>
          <a:p>
            <a:pPr algn="ctr"/>
            <a:r>
              <a:rPr sz="2600" b="0">
                <a:solidFill>
                  <a:srgbClr val="CC0000"/>
                </a:solidFill>
                <a:latin typeface="Meiryo"/>
              </a:rPr>
              <a:t>▶</a:t>
            </a:r>
          </a:p>
        </p:txBody>
      </p:sp>
      <p:sp>
        <p:nvSpPr>
          <p:cNvPr id="19" name="TextBox 18"/>
          <p:cNvSpPr txBox="1"/>
          <p:nvPr/>
        </p:nvSpPr>
        <p:spPr>
          <a:xfrm>
            <a:off x="360000" y="2160000"/>
            <a:ext cx="10440000" cy="216000"/>
          </a:xfrm>
          <a:prstGeom prst="rect">
            <a:avLst/>
          </a:prstGeom>
          <a:noFill/>
        </p:spPr>
        <p:txBody>
          <a:bodyPr wrap="square">
            <a:spAutoFit/>
          </a:bodyPr>
          <a:lstStyle/>
          <a:p>
            <a:pPr algn="l"/>
            <a:r>
              <a:rPr sz="1100" b="0">
                <a:solidFill>
                  <a:srgbClr val="444444"/>
                </a:solidFill>
                <a:latin typeface="Meiryo"/>
              </a:rPr>
              <a:t>※ WebView は PDF 内の URL リンクをタップした場合のみ表示されます。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2. UIの自由度 ① — 固定部分（変更できないもの）</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5</a:t>
            </a:r>
          </a:p>
        </p:txBody>
      </p:sp>
      <p:graphicFrame>
        <p:nvGraphicFramePr>
          <p:cNvPr id="5" name="Table 4"/>
          <p:cNvGraphicFramePr>
            <a:graphicFrameLocks noGrp="1"/>
          </p:cNvGraphicFramePr>
          <p:nvPr/>
        </p:nvGraphicFramePr>
        <p:xfrm>
          <a:off x="360000" y="612000"/>
          <a:ext cx="9540000" cy="192024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7560000">
                  <a:extLst>
                    <a:ext uri="{9D8B030D-6E8A-4147-A177-3AD203B41FA5}">
                      <a16:colId xmlns:a16="http://schemas.microsoft.com/office/drawing/2014/main" val="20001"/>
                    </a:ext>
                  </a:extLst>
                </a:gridCol>
              </a:tblGrid>
              <a:tr h="231428">
                <a:tc>
                  <a:txBody>
                    <a:bodyPr/>
                    <a:lstStyle/>
                    <a:p>
                      <a:r>
                        <a:rPr sz="1200" b="1">
                          <a:solidFill>
                            <a:srgbClr val="FFFFFF"/>
                          </a:solidFill>
                          <a:latin typeface="Meiryo"/>
                        </a:rPr>
                        <a:t>項目</a:t>
                      </a:r>
                    </a:p>
                  </a:txBody>
                  <a:tcPr>
                    <a:solidFill>
                      <a:srgbClr val="CC0000"/>
                    </a:solidFill>
                  </a:tcPr>
                </a:tc>
                <a:tc>
                  <a:txBody>
                    <a:bodyPr/>
                    <a:lstStyle/>
                    <a:p>
                      <a:r>
                        <a:rPr sz="1200" b="1">
                          <a:solidFill>
                            <a:srgbClr val="FFFFFF"/>
                          </a:solidFill>
                          <a:latin typeface="Meiryo"/>
                        </a:rPr>
                        <a:t>具体例・詳細</a:t>
                      </a:r>
                    </a:p>
                  </a:txBody>
                  <a:tcPr>
                    <a:solidFill>
                      <a:srgbClr val="CC0000"/>
                    </a:solidFill>
                  </a:tcPr>
                </a:tc>
                <a:extLst>
                  <a:ext uri="{0D108BD9-81ED-4DB2-BD59-A6C34878D82A}">
                    <a16:rowId xmlns:a16="http://schemas.microsoft.com/office/drawing/2014/main" val="10000"/>
                  </a:ext>
                </a:extLst>
              </a:tr>
              <a:tr h="231428">
                <a:tc>
                  <a:txBody>
                    <a:bodyPr/>
                    <a:lstStyle/>
                    <a:p>
                      <a:r>
                        <a:rPr sz="1200" b="0">
                          <a:solidFill>
                            <a:srgbClr val="000000"/>
                          </a:solidFill>
                          <a:latin typeface="Meiryo"/>
                        </a:rPr>
                        <a:t>レイアウト構造</a:t>
                      </a:r>
                    </a:p>
                  </a:txBody>
                  <a:tcPr>
                    <a:solidFill>
                      <a:srgbClr val="F5F5F5"/>
                    </a:solidFill>
                  </a:tcPr>
                </a:tc>
                <a:tc>
                  <a:txBody>
                    <a:bodyPr/>
                    <a:lstStyle/>
                    <a:p>
                      <a:r>
                        <a:rPr sz="1200" b="0">
                          <a:solidFill>
                            <a:srgbClr val="000000"/>
                          </a:solidFill>
                          <a:latin typeface="Meiryo"/>
                        </a:rPr>
                        <a:t>画面内の各要素（ヘッダー・コンテンツ・フッター）の配置・余白</a:t>
                      </a:r>
                    </a:p>
                  </a:txBody>
                  <a:tcPr>
                    <a:solidFill>
                      <a:srgbClr val="F5F5F5"/>
                    </a:solidFill>
                  </a:tcPr>
                </a:tc>
                <a:extLst>
                  <a:ext uri="{0D108BD9-81ED-4DB2-BD59-A6C34878D82A}">
                    <a16:rowId xmlns:a16="http://schemas.microsoft.com/office/drawing/2014/main" val="10001"/>
                  </a:ext>
                </a:extLst>
              </a:tr>
              <a:tr h="231428">
                <a:tc>
                  <a:txBody>
                    <a:bodyPr/>
                    <a:lstStyle/>
                    <a:p>
                      <a:r>
                        <a:rPr sz="1200" b="0">
                          <a:solidFill>
                            <a:srgbClr val="000000"/>
                          </a:solidFill>
                          <a:latin typeface="Meiryo"/>
                        </a:rPr>
                        <a:t>ナビゲーション方式</a:t>
                      </a:r>
                    </a:p>
                  </a:txBody>
                  <a:tcPr>
                    <a:solidFill>
                      <a:srgbClr val="FFFFFF"/>
                    </a:solidFill>
                  </a:tcPr>
                </a:tc>
                <a:tc>
                  <a:txBody>
                    <a:bodyPr/>
                    <a:lstStyle/>
                    <a:p>
                      <a:r>
                        <a:rPr sz="1200" b="0">
                          <a:solidFill>
                            <a:srgbClr val="000000"/>
                          </a:solidFill>
                          <a:latin typeface="Meiryo"/>
                        </a:rPr>
                        <a:t>コンテンツ一覧 → PDFビューア → WebView の一方向フロー</a:t>
                      </a:r>
                    </a:p>
                  </a:txBody>
                  <a:tcPr>
                    <a:solidFill>
                      <a:srgbClr val="FFFFFF"/>
                    </a:solidFill>
                  </a:tcPr>
                </a:tc>
                <a:extLst>
                  <a:ext uri="{0D108BD9-81ED-4DB2-BD59-A6C34878D82A}">
                    <a16:rowId xmlns:a16="http://schemas.microsoft.com/office/drawing/2014/main" val="10002"/>
                  </a:ext>
                </a:extLst>
              </a:tr>
              <a:tr h="231428">
                <a:tc>
                  <a:txBody>
                    <a:bodyPr/>
                    <a:lstStyle/>
                    <a:p>
                      <a:r>
                        <a:rPr sz="1200" b="0">
                          <a:solidFill>
                            <a:srgbClr val="000000"/>
                          </a:solidFill>
                          <a:latin typeface="Meiryo"/>
                        </a:rPr>
                        <a:t>ジェスチャー操作</a:t>
                      </a:r>
                    </a:p>
                  </a:txBody>
                  <a:tcPr>
                    <a:solidFill>
                      <a:srgbClr val="F5F5F5"/>
                    </a:solidFill>
                  </a:tcPr>
                </a:tc>
                <a:tc>
                  <a:txBody>
                    <a:bodyPr/>
                    <a:lstStyle/>
                    <a:p>
                      <a:r>
                        <a:rPr sz="1200" b="0">
                          <a:solidFill>
                            <a:srgbClr val="000000"/>
                          </a:solidFill>
                          <a:latin typeface="Meiryo"/>
                        </a:rPr>
                        <a:t>横スワイプ・ピンチズーム・タップ等の操作方法</a:t>
                      </a:r>
                    </a:p>
                  </a:txBody>
                  <a:tcPr>
                    <a:solidFill>
                      <a:srgbClr val="F5F5F5"/>
                    </a:solidFill>
                  </a:tcPr>
                </a:tc>
                <a:extLst>
                  <a:ext uri="{0D108BD9-81ED-4DB2-BD59-A6C34878D82A}">
                    <a16:rowId xmlns:a16="http://schemas.microsoft.com/office/drawing/2014/main" val="10003"/>
                  </a:ext>
                </a:extLst>
              </a:tr>
              <a:tr h="231428">
                <a:tc>
                  <a:txBody>
                    <a:bodyPr/>
                    <a:lstStyle/>
                    <a:p>
                      <a:r>
                        <a:rPr sz="1200" b="0">
                          <a:solidFill>
                            <a:srgbClr val="000000"/>
                          </a:solidFill>
                          <a:latin typeface="Meiryo"/>
                        </a:rPr>
                        <a:t>アイコン配置</a:t>
                      </a:r>
                    </a:p>
                  </a:txBody>
                  <a:tcPr>
                    <a:solidFill>
                      <a:srgbClr val="FFFFFF"/>
                    </a:solidFill>
                  </a:tcPr>
                </a:tc>
                <a:tc>
                  <a:txBody>
                    <a:bodyPr/>
                    <a:lstStyle/>
                    <a:p>
                      <a:r>
                        <a:rPr sz="1200" b="0">
                          <a:solidFill>
                            <a:srgbClr val="000000"/>
                          </a:solidFill>
                          <a:latin typeface="Meiryo"/>
                        </a:rPr>
                        <a:t>AppBar 右上のボタン群（テーマ切替・言語切替・表示モード切替）</a:t>
                      </a:r>
                    </a:p>
                  </a:txBody>
                  <a:tcPr>
                    <a:solidFill>
                      <a:srgbClr val="FFFFFF"/>
                    </a:solidFill>
                  </a:tcPr>
                </a:tc>
                <a:extLst>
                  <a:ext uri="{0D108BD9-81ED-4DB2-BD59-A6C34878D82A}">
                    <a16:rowId xmlns:a16="http://schemas.microsoft.com/office/drawing/2014/main" val="10004"/>
                  </a:ext>
                </a:extLst>
              </a:tr>
              <a:tr h="231428">
                <a:tc>
                  <a:txBody>
                    <a:bodyPr/>
                    <a:lstStyle/>
                    <a:p>
                      <a:r>
                        <a:rPr sz="1200" b="0">
                          <a:solidFill>
                            <a:srgbClr val="000000"/>
                          </a:solidFill>
                          <a:latin typeface="Meiryo"/>
                        </a:rPr>
                        <a:t>ストレージ保存先</a:t>
                      </a:r>
                    </a:p>
                  </a:txBody>
                  <a:tcPr>
                    <a:solidFill>
                      <a:srgbClr val="F5F5F5"/>
                    </a:solidFill>
                  </a:tcPr>
                </a:tc>
                <a:tc>
                  <a:txBody>
                    <a:bodyPr/>
                    <a:lstStyle/>
                    <a:p>
                      <a:r>
                        <a:rPr sz="1200" b="0">
                          <a:solidFill>
                            <a:srgbClr val="000000"/>
                          </a:solidFill>
                          <a:latin typeface="Meiryo"/>
                        </a:rPr>
                        <a:t>端末内 Documents フォルダ（変更不可）</a:t>
                      </a:r>
                    </a:p>
                  </a:txBody>
                  <a:tcPr>
                    <a:solidFill>
                      <a:srgbClr val="F5F5F5"/>
                    </a:solidFill>
                  </a:tcPr>
                </a:tc>
                <a:extLst>
                  <a:ext uri="{0D108BD9-81ED-4DB2-BD59-A6C34878D82A}">
                    <a16:rowId xmlns:a16="http://schemas.microsoft.com/office/drawing/2014/main" val="10005"/>
                  </a:ext>
                </a:extLst>
              </a:tr>
              <a:tr h="231432">
                <a:tc>
                  <a:txBody>
                    <a:bodyPr/>
                    <a:lstStyle/>
                    <a:p>
                      <a:r>
                        <a:rPr sz="1200" b="0">
                          <a:solidFill>
                            <a:srgbClr val="000000"/>
                          </a:solidFill>
                          <a:latin typeface="Meiryo"/>
                        </a:rPr>
                        <a:t>ファイル名形式</a:t>
                      </a:r>
                    </a:p>
                  </a:txBody>
                  <a:tcPr>
                    <a:solidFill>
                      <a:srgbClr val="FFFFFF"/>
                    </a:solidFill>
                  </a:tcPr>
                </a:tc>
                <a:tc>
                  <a:txBody>
                    <a:bodyPr/>
                    <a:lstStyle/>
                    <a:p>
                      <a:r>
                        <a:rPr sz="1200" b="0">
                          <a:solidFill>
                            <a:srgbClr val="000000"/>
                          </a:solidFill>
                          <a:latin typeface="Meiryo"/>
                        </a:rPr>
                        <a:t>ダウンロードファイルは「ID_言語_タイトル.pdf」形式で保存</a:t>
                      </a:r>
                    </a:p>
                  </a:txBody>
                  <a:tcP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360000" y="6426000"/>
            <a:ext cx="7200000" cy="216000"/>
          </a:xfrm>
          <a:prstGeom prst="rect">
            <a:avLst/>
          </a:prstGeom>
          <a:noFill/>
        </p:spPr>
        <p:txBody>
          <a:bodyPr wrap="square">
            <a:spAutoFit/>
          </a:bodyPr>
          <a:lstStyle/>
          <a:p>
            <a:pPr algn="l"/>
            <a:r>
              <a:rPr sz="1100" b="0">
                <a:solidFill>
                  <a:srgbClr val="444444"/>
                </a:solidFill>
                <a:latin typeface="Meiryo"/>
              </a:rPr>
              <a:t>※ 上記の変更には開発・リリース作業が必要です。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2. UIの自由度 ② — 変更可能部分</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6</a:t>
            </a:r>
          </a:p>
        </p:txBody>
      </p:sp>
      <p:graphicFrame>
        <p:nvGraphicFramePr>
          <p:cNvPr id="5" name="Table 4"/>
          <p:cNvGraphicFramePr>
            <a:graphicFrameLocks noGrp="1"/>
          </p:cNvGraphicFramePr>
          <p:nvPr/>
        </p:nvGraphicFramePr>
        <p:xfrm>
          <a:off x="360000" y="576000"/>
          <a:ext cx="9900000" cy="2286000"/>
        </p:xfrm>
        <a:graphic>
          <a:graphicData uri="http://schemas.openxmlformats.org/drawingml/2006/table">
            <a:tbl>
              <a:tblPr firstRow="1" bandRow="1">
                <a:tableStyleId>{5C22544A-7EE6-4342-B048-85BDC9FD1C3A}</a:tableStyleId>
              </a:tblPr>
              <a:tblGrid>
                <a:gridCol w="234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5760000">
                  <a:extLst>
                    <a:ext uri="{9D8B030D-6E8A-4147-A177-3AD203B41FA5}">
                      <a16:colId xmlns:a16="http://schemas.microsoft.com/office/drawing/2014/main" val="20002"/>
                    </a:ext>
                  </a:extLst>
                </a:gridCol>
              </a:tblGrid>
              <a:tr h="257142">
                <a:tc>
                  <a:txBody>
                    <a:bodyPr/>
                    <a:lstStyle/>
                    <a:p>
                      <a:r>
                        <a:rPr sz="1200" b="1">
                          <a:solidFill>
                            <a:srgbClr val="FFFFFF"/>
                          </a:solidFill>
                          <a:latin typeface="Meiryo"/>
                        </a:rPr>
                        <a:t>変更できるもの</a:t>
                      </a:r>
                    </a:p>
                  </a:txBody>
                  <a:tcPr>
                    <a:solidFill>
                      <a:srgbClr val="CC0000"/>
                    </a:solidFill>
                  </a:tcPr>
                </a:tc>
                <a:tc>
                  <a:txBody>
                    <a:bodyPr/>
                    <a:lstStyle/>
                    <a:p>
                      <a:r>
                        <a:rPr sz="1200" b="1">
                          <a:solidFill>
                            <a:srgbClr val="FFFFFF"/>
                          </a:solidFill>
                          <a:latin typeface="Meiryo"/>
                        </a:rPr>
                        <a:t>誰が変えるか</a:t>
                      </a:r>
                    </a:p>
                  </a:txBody>
                  <a:tcPr>
                    <a:solidFill>
                      <a:srgbClr val="CC0000"/>
                    </a:solidFill>
                  </a:tcPr>
                </a:tc>
                <a:tc>
                  <a:txBody>
                    <a:bodyPr/>
                    <a:lstStyle/>
                    <a:p>
                      <a:r>
                        <a:rPr sz="1200" b="1">
                          <a:solidFill>
                            <a:srgbClr val="FFFFFF"/>
                          </a:solidFill>
                          <a:latin typeface="Meiryo"/>
                        </a:rPr>
                        <a:t>変え方</a:t>
                      </a:r>
                    </a:p>
                  </a:txBody>
                  <a:tcPr>
                    <a:solidFill>
                      <a:srgbClr val="CC0000"/>
                    </a:solidFill>
                  </a:tcPr>
                </a:tc>
                <a:extLst>
                  <a:ext uri="{0D108BD9-81ED-4DB2-BD59-A6C34878D82A}">
                    <a16:rowId xmlns:a16="http://schemas.microsoft.com/office/drawing/2014/main" val="10000"/>
                  </a:ext>
                </a:extLst>
              </a:tr>
              <a:tr h="257142">
                <a:tc>
                  <a:txBody>
                    <a:bodyPr/>
                    <a:lstStyle/>
                    <a:p>
                      <a:r>
                        <a:rPr sz="1200" b="0">
                          <a:solidFill>
                            <a:srgbClr val="000000"/>
                          </a:solidFill>
                          <a:latin typeface="Meiryo"/>
                        </a:rPr>
                        <a:t>テーマ（ライト/ダーク）</a:t>
                      </a:r>
                    </a:p>
                  </a:txBody>
                  <a:tcPr>
                    <a:solidFill>
                      <a:srgbClr val="F5F5F5"/>
                    </a:solidFill>
                  </a:tcPr>
                </a:tc>
                <a:tc>
                  <a:txBody>
                    <a:bodyPr/>
                    <a:lstStyle/>
                    <a:p>
                      <a:r>
                        <a:rPr sz="1200" b="0">
                          <a:solidFill>
                            <a:srgbClr val="000000"/>
                          </a:solidFill>
                          <a:latin typeface="Meiryo"/>
                        </a:rPr>
                        <a:t>ユーザー</a:t>
                      </a:r>
                    </a:p>
                  </a:txBody>
                  <a:tcPr>
                    <a:solidFill>
                      <a:srgbClr val="F5F5F5"/>
                    </a:solidFill>
                  </a:tcPr>
                </a:tc>
                <a:tc>
                  <a:txBody>
                    <a:bodyPr/>
                    <a:lstStyle/>
                    <a:p>
                      <a:r>
                        <a:rPr sz="1200" b="0">
                          <a:solidFill>
                            <a:srgbClr val="000000"/>
                          </a:solidFill>
                          <a:latin typeface="Meiryo"/>
                        </a:rPr>
                        <a:t>アプリ内設定ボタン（即時反映・設定保持）</a:t>
                      </a:r>
                    </a:p>
                  </a:txBody>
                  <a:tcPr>
                    <a:solidFill>
                      <a:srgbClr val="F5F5F5"/>
                    </a:solidFill>
                  </a:tcPr>
                </a:tc>
                <a:extLst>
                  <a:ext uri="{0D108BD9-81ED-4DB2-BD59-A6C34878D82A}">
                    <a16:rowId xmlns:a16="http://schemas.microsoft.com/office/drawing/2014/main" val="10001"/>
                  </a:ext>
                </a:extLst>
              </a:tr>
              <a:tr h="257142">
                <a:tc>
                  <a:txBody>
                    <a:bodyPr/>
                    <a:lstStyle/>
                    <a:p>
                      <a:r>
                        <a:rPr sz="1200" b="0">
                          <a:solidFill>
                            <a:srgbClr val="000000"/>
                          </a:solidFill>
                          <a:latin typeface="Meiryo"/>
                        </a:rPr>
                        <a:t>表示言語（日本語/英語）</a:t>
                      </a:r>
                    </a:p>
                  </a:txBody>
                  <a:tcPr>
                    <a:solidFill>
                      <a:srgbClr val="FFFFFF"/>
                    </a:solidFill>
                  </a:tcPr>
                </a:tc>
                <a:tc>
                  <a:txBody>
                    <a:bodyPr/>
                    <a:lstStyle/>
                    <a:p>
                      <a:r>
                        <a:rPr sz="1200" b="0">
                          <a:solidFill>
                            <a:srgbClr val="000000"/>
                          </a:solidFill>
                          <a:latin typeface="Meiryo"/>
                        </a:rPr>
                        <a:t>ユーザー</a:t>
                      </a:r>
                    </a:p>
                  </a:txBody>
                  <a:tcPr>
                    <a:solidFill>
                      <a:srgbClr val="FFFFFF"/>
                    </a:solidFill>
                  </a:tcPr>
                </a:tc>
                <a:tc>
                  <a:txBody>
                    <a:bodyPr/>
                    <a:lstStyle/>
                    <a:p>
                      <a:r>
                        <a:rPr sz="1200" b="0">
                          <a:solidFill>
                            <a:srgbClr val="000000"/>
                          </a:solidFill>
                          <a:latin typeface="Meiryo"/>
                        </a:rPr>
                        <a:t>アプリ内設定ボタン（即時反映・設定保持）</a:t>
                      </a:r>
                    </a:p>
                  </a:txBody>
                  <a:tcPr>
                    <a:solidFill>
                      <a:srgbClr val="FFFFFF"/>
                    </a:solidFill>
                  </a:tcPr>
                </a:tc>
                <a:extLst>
                  <a:ext uri="{0D108BD9-81ED-4DB2-BD59-A6C34878D82A}">
                    <a16:rowId xmlns:a16="http://schemas.microsoft.com/office/drawing/2014/main" val="10002"/>
                  </a:ext>
                </a:extLst>
              </a:tr>
              <a:tr h="257142">
                <a:tc>
                  <a:txBody>
                    <a:bodyPr/>
                    <a:lstStyle/>
                    <a:p>
                      <a:r>
                        <a:rPr sz="1200" b="0">
                          <a:solidFill>
                            <a:srgbClr val="000000"/>
                          </a:solidFill>
                          <a:latin typeface="Meiryo"/>
                        </a:rPr>
                        <a:t>表示モード（リスト/グリッド）</a:t>
                      </a:r>
                    </a:p>
                  </a:txBody>
                  <a:tcPr>
                    <a:solidFill>
                      <a:srgbClr val="F5F5F5"/>
                    </a:solidFill>
                  </a:tcPr>
                </a:tc>
                <a:tc>
                  <a:txBody>
                    <a:bodyPr/>
                    <a:lstStyle/>
                    <a:p>
                      <a:r>
                        <a:rPr sz="1200" b="0">
                          <a:solidFill>
                            <a:srgbClr val="000000"/>
                          </a:solidFill>
                          <a:latin typeface="Meiryo"/>
                        </a:rPr>
                        <a:t>ユーザー</a:t>
                      </a:r>
                    </a:p>
                  </a:txBody>
                  <a:tcPr>
                    <a:solidFill>
                      <a:srgbClr val="F5F5F5"/>
                    </a:solidFill>
                  </a:tcPr>
                </a:tc>
                <a:tc>
                  <a:txBody>
                    <a:bodyPr/>
                    <a:lstStyle/>
                    <a:p>
                      <a:r>
                        <a:rPr sz="1200" b="0">
                          <a:solidFill>
                            <a:srgbClr val="000000"/>
                          </a:solidFill>
                          <a:latin typeface="Meiryo"/>
                        </a:rPr>
                        <a:t>AppBar 右上の切替ボタン</a:t>
                      </a:r>
                    </a:p>
                  </a:txBody>
                  <a:tcPr>
                    <a:solidFill>
                      <a:srgbClr val="F5F5F5"/>
                    </a:solidFill>
                  </a:tcPr>
                </a:tc>
                <a:extLst>
                  <a:ext uri="{0D108BD9-81ED-4DB2-BD59-A6C34878D82A}">
                    <a16:rowId xmlns:a16="http://schemas.microsoft.com/office/drawing/2014/main" val="10003"/>
                  </a:ext>
                </a:extLst>
              </a:tr>
              <a:tr h="257142">
                <a:tc>
                  <a:txBody>
                    <a:bodyPr/>
                    <a:lstStyle/>
                    <a:p>
                      <a:r>
                        <a:rPr sz="1200" b="0">
                          <a:solidFill>
                            <a:srgbClr val="000000"/>
                          </a:solidFill>
                          <a:latin typeface="Meiryo"/>
                        </a:rPr>
                        <a:t>コンテンツ一覧の内容</a:t>
                      </a:r>
                    </a:p>
                  </a:txBody>
                  <a:tcPr>
                    <a:solidFill>
                      <a:srgbClr val="FFFFFF"/>
                    </a:solidFill>
                  </a:tcPr>
                </a:tc>
                <a:tc>
                  <a:txBody>
                    <a:bodyPr/>
                    <a:lstStyle/>
                    <a:p>
                      <a:r>
                        <a:rPr sz="1200" b="0">
                          <a:solidFill>
                            <a:srgbClr val="000000"/>
                          </a:solidFill>
                          <a:latin typeface="Meiryo"/>
                        </a:rPr>
                        <a:t>管理者</a:t>
                      </a:r>
                    </a:p>
                  </a:txBody>
                  <a:tcPr>
                    <a:solidFill>
                      <a:srgbClr val="FFFFFF"/>
                    </a:solidFill>
                  </a:tcPr>
                </a:tc>
                <a:tc>
                  <a:txBody>
                    <a:bodyPr/>
                    <a:lstStyle/>
                    <a:p>
                      <a:r>
                        <a:rPr sz="1200" b="0">
                          <a:solidFill>
                            <a:srgbClr val="000000"/>
                          </a:solidFill>
                          <a:latin typeface="Meiryo"/>
                        </a:rPr>
                        <a:t>assets/contents.json を編集（タイトル・説明・URL等）</a:t>
                      </a:r>
                    </a:p>
                  </a:txBody>
                  <a:tcPr>
                    <a:solidFill>
                      <a:srgbClr val="FFFFFF"/>
                    </a:solidFill>
                  </a:tcPr>
                </a:tc>
                <a:extLst>
                  <a:ext uri="{0D108BD9-81ED-4DB2-BD59-A6C34878D82A}">
                    <a16:rowId xmlns:a16="http://schemas.microsoft.com/office/drawing/2014/main" val="10004"/>
                  </a:ext>
                </a:extLst>
              </a:tr>
              <a:tr h="257142">
                <a:tc>
                  <a:txBody>
                    <a:bodyPr/>
                    <a:lstStyle/>
                    <a:p>
                      <a:r>
                        <a:rPr sz="1200" b="0">
                          <a:solidFill>
                            <a:srgbClr val="000000"/>
                          </a:solidFill>
                          <a:latin typeface="Meiryo"/>
                        </a:rPr>
                        <a:t>ブランドカラー（赤 #CC0000）</a:t>
                      </a:r>
                    </a:p>
                  </a:txBody>
                  <a:tcPr>
                    <a:solidFill>
                      <a:srgbClr val="F5F5F5"/>
                    </a:solidFill>
                  </a:tcPr>
                </a:tc>
                <a:tc>
                  <a:txBody>
                    <a:bodyPr/>
                    <a:lstStyle/>
                    <a:p>
                      <a:r>
                        <a:rPr sz="1200" b="0">
                          <a:solidFill>
                            <a:srgbClr val="000000"/>
                          </a:solidFill>
                          <a:latin typeface="Meiryo"/>
                        </a:rPr>
                        <a:t>開発者</a:t>
                      </a:r>
                    </a:p>
                  </a:txBody>
                  <a:tcPr>
                    <a:solidFill>
                      <a:srgbClr val="F5F5F5"/>
                    </a:solidFill>
                  </a:tcPr>
                </a:tc>
                <a:tc>
                  <a:txBody>
                    <a:bodyPr/>
                    <a:lstStyle/>
                    <a:p>
                      <a:r>
                        <a:rPr sz="1200" b="0">
                          <a:solidFill>
                            <a:srgbClr val="000000"/>
                          </a:solidFill>
                          <a:latin typeface="Meiryo"/>
                        </a:rPr>
                        <a:t>コード上の seedColor を変更（再ビルド必要）</a:t>
                      </a:r>
                    </a:p>
                  </a:txBody>
                  <a:tcPr>
                    <a:solidFill>
                      <a:srgbClr val="F5F5F5"/>
                    </a:solidFill>
                  </a:tcPr>
                </a:tc>
                <a:extLst>
                  <a:ext uri="{0D108BD9-81ED-4DB2-BD59-A6C34878D82A}">
                    <a16:rowId xmlns:a16="http://schemas.microsoft.com/office/drawing/2014/main" val="10005"/>
                  </a:ext>
                </a:extLst>
              </a:tr>
              <a:tr h="257148">
                <a:tc>
                  <a:txBody>
                    <a:bodyPr/>
                    <a:lstStyle/>
                    <a:p>
                      <a:r>
                        <a:rPr sz="1200" b="0">
                          <a:solidFill>
                            <a:srgbClr val="000000"/>
                          </a:solidFill>
                          <a:latin typeface="Meiryo"/>
                        </a:rPr>
                        <a:t>対応言語の追加</a:t>
                      </a:r>
                    </a:p>
                  </a:txBody>
                  <a:tcPr>
                    <a:solidFill>
                      <a:srgbClr val="FFFFFF"/>
                    </a:solidFill>
                  </a:tcPr>
                </a:tc>
                <a:tc>
                  <a:txBody>
                    <a:bodyPr/>
                    <a:lstStyle/>
                    <a:p>
                      <a:r>
                        <a:rPr sz="1200" b="0">
                          <a:solidFill>
                            <a:srgbClr val="000000"/>
                          </a:solidFill>
                          <a:latin typeface="Meiryo"/>
                        </a:rPr>
                        <a:t>開発者</a:t>
                      </a:r>
                    </a:p>
                  </a:txBody>
                  <a:tcPr>
                    <a:solidFill>
                      <a:srgbClr val="FFFFFF"/>
                    </a:solidFill>
                  </a:tcPr>
                </a:tc>
                <a:tc>
                  <a:txBody>
                    <a:bodyPr/>
                    <a:lstStyle/>
                    <a:p>
                      <a:r>
                        <a:rPr sz="1200" b="0">
                          <a:solidFill>
                            <a:srgbClr val="000000"/>
                          </a:solidFill>
                          <a:latin typeface="Meiryo"/>
                        </a:rPr>
                        <a:t>多言語対応ファイル追加 + 開発作業</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3. インタラクション ① — コンテンツ一覧画面</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7</a:t>
            </a:r>
          </a:p>
        </p:txBody>
      </p:sp>
      <p:graphicFrame>
        <p:nvGraphicFramePr>
          <p:cNvPr id="5" name="Table 4"/>
          <p:cNvGraphicFramePr>
            <a:graphicFrameLocks noGrp="1"/>
          </p:cNvGraphicFramePr>
          <p:nvPr/>
        </p:nvGraphicFramePr>
        <p:xfrm>
          <a:off x="360000" y="576000"/>
          <a:ext cx="9900000" cy="219456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gridCol w="7020000">
                  <a:extLst>
                    <a:ext uri="{9D8B030D-6E8A-4147-A177-3AD203B41FA5}">
                      <a16:colId xmlns:a16="http://schemas.microsoft.com/office/drawing/2014/main" val="20001"/>
                    </a:ext>
                  </a:extLst>
                </a:gridCol>
              </a:tblGrid>
              <a:tr h="229499">
                <a:tc>
                  <a:txBody>
                    <a:bodyPr/>
                    <a:lstStyle/>
                    <a:p>
                      <a:r>
                        <a:rPr sz="1200" b="1">
                          <a:solidFill>
                            <a:srgbClr val="FFFFFF"/>
                          </a:solidFill>
                          <a:latin typeface="Meiryo"/>
                        </a:rPr>
                        <a:t>操作</a:t>
                      </a:r>
                    </a:p>
                  </a:txBody>
                  <a:tcPr>
                    <a:solidFill>
                      <a:srgbClr val="CC0000"/>
                    </a:solidFill>
                  </a:tcPr>
                </a:tc>
                <a:tc>
                  <a:txBody>
                    <a:bodyPr/>
                    <a:lstStyle/>
                    <a:p>
                      <a:r>
                        <a:rPr sz="1200" b="1">
                          <a:solidFill>
                            <a:srgbClr val="FFFFFF"/>
                          </a:solidFill>
                          <a:latin typeface="Meiryo"/>
                        </a:rPr>
                        <a:t>結果・動作</a:t>
                      </a:r>
                    </a:p>
                  </a:txBody>
                  <a:tcPr>
                    <a:solidFill>
                      <a:srgbClr val="CC0000"/>
                    </a:solidFill>
                  </a:tcPr>
                </a:tc>
                <a:extLst>
                  <a:ext uri="{0D108BD9-81ED-4DB2-BD59-A6C34878D82A}">
                    <a16:rowId xmlns:a16="http://schemas.microsoft.com/office/drawing/2014/main" val="10000"/>
                  </a:ext>
                </a:extLst>
              </a:tr>
              <a:tr h="229499">
                <a:tc>
                  <a:txBody>
                    <a:bodyPr/>
                    <a:lstStyle/>
                    <a:p>
                      <a:r>
                        <a:rPr sz="1200" b="0">
                          <a:solidFill>
                            <a:srgbClr val="000000"/>
                          </a:solidFill>
                          <a:latin typeface="Meiryo"/>
                        </a:rPr>
                        <a:t>ダウンロードボタン タップ</a:t>
                      </a:r>
                    </a:p>
                  </a:txBody>
                  <a:tcPr>
                    <a:solidFill>
                      <a:srgbClr val="F5F5F5"/>
                    </a:solidFill>
                  </a:tcPr>
                </a:tc>
                <a:tc>
                  <a:txBody>
                    <a:bodyPr/>
                    <a:lstStyle/>
                    <a:p>
                      <a:r>
                        <a:rPr sz="1200" b="0">
                          <a:solidFill>
                            <a:srgbClr val="000000"/>
                          </a:solidFill>
                          <a:latin typeface="Meiryo"/>
                        </a:rPr>
                        <a:t>ダウンロード開始 → 進捗バーを表示 → 完了後「開く」ボタンに変化</a:t>
                      </a:r>
                    </a:p>
                  </a:txBody>
                  <a:tcPr>
                    <a:solidFill>
                      <a:srgbClr val="F5F5F5"/>
                    </a:solidFill>
                  </a:tcPr>
                </a:tc>
                <a:extLst>
                  <a:ext uri="{0D108BD9-81ED-4DB2-BD59-A6C34878D82A}">
                    <a16:rowId xmlns:a16="http://schemas.microsoft.com/office/drawing/2014/main" val="10001"/>
                  </a:ext>
                </a:extLst>
              </a:tr>
              <a:tr h="229499">
                <a:tc>
                  <a:txBody>
                    <a:bodyPr/>
                    <a:lstStyle/>
                    <a:p>
                      <a:r>
                        <a:rPr sz="1200" b="0">
                          <a:solidFill>
                            <a:srgbClr val="000000"/>
                          </a:solidFill>
                          <a:latin typeface="Meiryo"/>
                        </a:rPr>
                        <a:t>キャンセルボタン タップ（DL中）</a:t>
                      </a:r>
                    </a:p>
                  </a:txBody>
                  <a:tcPr>
                    <a:solidFill>
                      <a:srgbClr val="FFFFFF"/>
                    </a:solidFill>
                  </a:tcPr>
                </a:tc>
                <a:tc>
                  <a:txBody>
                    <a:bodyPr/>
                    <a:lstStyle/>
                    <a:p>
                      <a:r>
                        <a:rPr sz="1200" b="0">
                          <a:solidFill>
                            <a:srgbClr val="000000"/>
                          </a:solidFill>
                          <a:latin typeface="Meiryo"/>
                        </a:rPr>
                        <a:t>ダウンロードを中止（ファイルは保存されない）</a:t>
                      </a:r>
                    </a:p>
                  </a:txBody>
                  <a:tcPr>
                    <a:solidFill>
                      <a:srgbClr val="FFFFFF"/>
                    </a:solidFill>
                  </a:tcPr>
                </a:tc>
                <a:extLst>
                  <a:ext uri="{0D108BD9-81ED-4DB2-BD59-A6C34878D82A}">
                    <a16:rowId xmlns:a16="http://schemas.microsoft.com/office/drawing/2014/main" val="10002"/>
                  </a:ext>
                </a:extLst>
              </a:tr>
              <a:tr h="229499">
                <a:tc>
                  <a:txBody>
                    <a:bodyPr/>
                    <a:lstStyle/>
                    <a:p>
                      <a:r>
                        <a:rPr sz="1200" b="0">
                          <a:solidFill>
                            <a:srgbClr val="000000"/>
                          </a:solidFill>
                          <a:latin typeface="Meiryo"/>
                        </a:rPr>
                        <a:t>「開く」ボタン タップ</a:t>
                      </a:r>
                    </a:p>
                  </a:txBody>
                  <a:tcPr>
                    <a:solidFill>
                      <a:srgbClr val="F5F5F5"/>
                    </a:solidFill>
                  </a:tcPr>
                </a:tc>
                <a:tc>
                  <a:txBody>
                    <a:bodyPr/>
                    <a:lstStyle/>
                    <a:p>
                      <a:r>
                        <a:rPr sz="1200" b="0">
                          <a:solidFill>
                            <a:srgbClr val="000000"/>
                          </a:solidFill>
                          <a:latin typeface="Meiryo"/>
                        </a:rPr>
                        <a:t>PDFビューア画面へ遷移してPDFを表示</a:t>
                      </a:r>
                    </a:p>
                  </a:txBody>
                  <a:tcPr>
                    <a:solidFill>
                      <a:srgbClr val="F5F5F5"/>
                    </a:solidFill>
                  </a:tcPr>
                </a:tc>
                <a:extLst>
                  <a:ext uri="{0D108BD9-81ED-4DB2-BD59-A6C34878D82A}">
                    <a16:rowId xmlns:a16="http://schemas.microsoft.com/office/drawing/2014/main" val="10003"/>
                  </a:ext>
                </a:extLst>
              </a:tr>
              <a:tr h="229499">
                <a:tc>
                  <a:txBody>
                    <a:bodyPr/>
                    <a:lstStyle/>
                    <a:p>
                      <a:r>
                        <a:rPr sz="1200" b="0">
                          <a:solidFill>
                            <a:srgbClr val="000000"/>
                          </a:solidFill>
                          <a:latin typeface="Meiryo"/>
                        </a:rPr>
                        <a:t>削除ボタン タップ</a:t>
                      </a:r>
                    </a:p>
                  </a:txBody>
                  <a:tcPr>
                    <a:solidFill>
                      <a:srgbClr val="FFFFFF"/>
                    </a:solidFill>
                  </a:tcPr>
                </a:tc>
                <a:tc>
                  <a:txBody>
                    <a:bodyPr/>
                    <a:lstStyle/>
                    <a:p>
                      <a:r>
                        <a:rPr sz="1200" b="0">
                          <a:solidFill>
                            <a:srgbClr val="000000"/>
                          </a:solidFill>
                          <a:latin typeface="Meiryo"/>
                        </a:rPr>
                        <a:t>確認ダイアログ表示 → OK でファイル削除・未DL状態に戻る</a:t>
                      </a:r>
                    </a:p>
                  </a:txBody>
                  <a:tcPr>
                    <a:solidFill>
                      <a:srgbClr val="FFFFFF"/>
                    </a:solidFill>
                  </a:tcPr>
                </a:tc>
                <a:extLst>
                  <a:ext uri="{0D108BD9-81ED-4DB2-BD59-A6C34878D82A}">
                    <a16:rowId xmlns:a16="http://schemas.microsoft.com/office/drawing/2014/main" val="10004"/>
                  </a:ext>
                </a:extLst>
              </a:tr>
              <a:tr h="229499">
                <a:tc>
                  <a:txBody>
                    <a:bodyPr/>
                    <a:lstStyle/>
                    <a:p>
                      <a:r>
                        <a:rPr sz="1200" b="0">
                          <a:solidFill>
                            <a:srgbClr val="000000"/>
                          </a:solidFill>
                          <a:latin typeface="Meiryo"/>
                        </a:rPr>
                        <a:t>リスト/グリッド 切替ボタン</a:t>
                      </a:r>
                    </a:p>
                  </a:txBody>
                  <a:tcPr>
                    <a:solidFill>
                      <a:srgbClr val="F5F5F5"/>
                    </a:solidFill>
                  </a:tcPr>
                </a:tc>
                <a:tc>
                  <a:txBody>
                    <a:bodyPr/>
                    <a:lstStyle/>
                    <a:p>
                      <a:r>
                        <a:rPr sz="1200" b="0">
                          <a:solidFill>
                            <a:srgbClr val="000000"/>
                          </a:solidFill>
                          <a:latin typeface="Meiryo"/>
                        </a:rPr>
                        <a:t>リスト表示（テキスト中心）⇔ グリッド表示（サムネイル中心）</a:t>
                      </a:r>
                    </a:p>
                  </a:txBody>
                  <a:tcPr>
                    <a:solidFill>
                      <a:srgbClr val="F5F5F5"/>
                    </a:solidFill>
                  </a:tcPr>
                </a:tc>
                <a:extLst>
                  <a:ext uri="{0D108BD9-81ED-4DB2-BD59-A6C34878D82A}">
                    <a16:rowId xmlns:a16="http://schemas.microsoft.com/office/drawing/2014/main" val="10005"/>
                  </a:ext>
                </a:extLst>
              </a:tr>
              <a:tr h="229499">
                <a:tc>
                  <a:txBody>
                    <a:bodyPr/>
                    <a:lstStyle/>
                    <a:p>
                      <a:r>
                        <a:rPr sz="1200" b="0">
                          <a:solidFill>
                            <a:srgbClr val="000000"/>
                          </a:solidFill>
                          <a:latin typeface="Meiryo"/>
                        </a:rPr>
                        <a:t>テーマ切替ボタン</a:t>
                      </a:r>
                    </a:p>
                  </a:txBody>
                  <a:tcPr>
                    <a:solidFill>
                      <a:srgbClr val="FFFFFF"/>
                    </a:solidFill>
                  </a:tcPr>
                </a:tc>
                <a:tc>
                  <a:txBody>
                    <a:bodyPr/>
                    <a:lstStyle/>
                    <a:p>
                      <a:r>
                        <a:rPr sz="1200" b="0">
                          <a:solidFill>
                            <a:srgbClr val="000000"/>
                          </a:solidFill>
                          <a:latin typeface="Meiryo"/>
                        </a:rPr>
                        <a:t>ライト / ダーク / システム連動 の選択ダイアログを表示</a:t>
                      </a:r>
                    </a:p>
                  </a:txBody>
                  <a:tcPr>
                    <a:solidFill>
                      <a:srgbClr val="FFFFFF"/>
                    </a:solidFill>
                  </a:tcPr>
                </a:tc>
                <a:extLst>
                  <a:ext uri="{0D108BD9-81ED-4DB2-BD59-A6C34878D82A}">
                    <a16:rowId xmlns:a16="http://schemas.microsoft.com/office/drawing/2014/main" val="10006"/>
                  </a:ext>
                </a:extLst>
              </a:tr>
              <a:tr h="229506">
                <a:tc>
                  <a:txBody>
                    <a:bodyPr/>
                    <a:lstStyle/>
                    <a:p>
                      <a:r>
                        <a:rPr sz="1200" b="0">
                          <a:solidFill>
                            <a:srgbClr val="000000"/>
                          </a:solidFill>
                          <a:latin typeface="Meiryo"/>
                        </a:rPr>
                        <a:t>言語切替ボタン</a:t>
                      </a:r>
                    </a:p>
                  </a:txBody>
                  <a:tcPr>
                    <a:solidFill>
                      <a:srgbClr val="F5F5F5"/>
                    </a:solidFill>
                  </a:tcPr>
                </a:tc>
                <a:tc>
                  <a:txBody>
                    <a:bodyPr/>
                    <a:lstStyle/>
                    <a:p>
                      <a:r>
                        <a:rPr sz="1200" b="0">
                          <a:solidFill>
                            <a:srgbClr val="000000"/>
                          </a:solidFill>
                          <a:latin typeface="Meiryo"/>
                        </a:rPr>
                        <a:t>日本語 / 英語 の選択ダイアログを表示</a:t>
                      </a:r>
                    </a:p>
                  </a:txBody>
                  <a:tcPr>
                    <a:solidFill>
                      <a:srgbClr val="F5F5F5"/>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3. インタラクション ② — PDFビューア画面</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8</a:t>
            </a:r>
          </a:p>
        </p:txBody>
      </p:sp>
      <p:graphicFrame>
        <p:nvGraphicFramePr>
          <p:cNvPr id="5" name="Table 4"/>
          <p:cNvGraphicFramePr>
            <a:graphicFrameLocks noGrp="1"/>
          </p:cNvGraphicFramePr>
          <p:nvPr/>
        </p:nvGraphicFramePr>
        <p:xfrm>
          <a:off x="360000" y="576000"/>
          <a:ext cx="9900000" cy="2743200"/>
        </p:xfrm>
        <a:graphic>
          <a:graphicData uri="http://schemas.openxmlformats.org/drawingml/2006/table">
            <a:tbl>
              <a:tblPr firstRow="1" bandRow="1">
                <a:tableStyleId>{5C22544A-7EE6-4342-B048-85BDC9FD1C3A}</a:tableStyleId>
              </a:tblPr>
              <a:tblGrid>
                <a:gridCol w="3060000">
                  <a:extLst>
                    <a:ext uri="{9D8B030D-6E8A-4147-A177-3AD203B41FA5}">
                      <a16:colId xmlns:a16="http://schemas.microsoft.com/office/drawing/2014/main" val="20000"/>
                    </a:ext>
                  </a:extLst>
                </a:gridCol>
                <a:gridCol w="6840000">
                  <a:extLst>
                    <a:ext uri="{9D8B030D-6E8A-4147-A177-3AD203B41FA5}">
                      <a16:colId xmlns:a16="http://schemas.microsoft.com/office/drawing/2014/main" val="20001"/>
                    </a:ext>
                  </a:extLst>
                </a:gridCol>
              </a:tblGrid>
              <a:tr h="198000">
                <a:tc>
                  <a:txBody>
                    <a:bodyPr/>
                    <a:lstStyle/>
                    <a:p>
                      <a:r>
                        <a:rPr sz="1200" b="1">
                          <a:solidFill>
                            <a:srgbClr val="FFFFFF"/>
                          </a:solidFill>
                          <a:latin typeface="Meiryo"/>
                        </a:rPr>
                        <a:t>操作</a:t>
                      </a:r>
                    </a:p>
                  </a:txBody>
                  <a:tcPr>
                    <a:solidFill>
                      <a:srgbClr val="CC0000"/>
                    </a:solidFill>
                  </a:tcPr>
                </a:tc>
                <a:tc>
                  <a:txBody>
                    <a:bodyPr/>
                    <a:lstStyle/>
                    <a:p>
                      <a:r>
                        <a:rPr sz="1200" b="1">
                          <a:solidFill>
                            <a:srgbClr val="FFFFFF"/>
                          </a:solidFill>
                          <a:latin typeface="Meiryo"/>
                        </a:rPr>
                        <a:t>結果・動作</a:t>
                      </a:r>
                    </a:p>
                  </a:txBody>
                  <a:tcPr>
                    <a:solidFill>
                      <a:srgbClr val="CC0000"/>
                    </a:solidFill>
                  </a:tcPr>
                </a:tc>
                <a:extLst>
                  <a:ext uri="{0D108BD9-81ED-4DB2-BD59-A6C34878D82A}">
                    <a16:rowId xmlns:a16="http://schemas.microsoft.com/office/drawing/2014/main" val="10000"/>
                  </a:ext>
                </a:extLst>
              </a:tr>
              <a:tr h="198000">
                <a:tc>
                  <a:txBody>
                    <a:bodyPr/>
                    <a:lstStyle/>
                    <a:p>
                      <a:r>
                        <a:rPr sz="1200" b="0">
                          <a:solidFill>
                            <a:srgbClr val="000000"/>
                          </a:solidFill>
                          <a:latin typeface="Meiryo"/>
                        </a:rPr>
                        <a:t>横スワイプ</a:t>
                      </a:r>
                    </a:p>
                  </a:txBody>
                  <a:tcPr>
                    <a:solidFill>
                      <a:srgbClr val="F5F5F5"/>
                    </a:solidFill>
                  </a:tcPr>
                </a:tc>
                <a:tc>
                  <a:txBody>
                    <a:bodyPr/>
                    <a:lstStyle/>
                    <a:p>
                      <a:r>
                        <a:rPr sz="1200" b="0">
                          <a:solidFill>
                            <a:srgbClr val="000000"/>
                          </a:solidFill>
                          <a:latin typeface="Meiryo"/>
                        </a:rPr>
                        <a:t>前後のページへ移動</a:t>
                      </a:r>
                    </a:p>
                  </a:txBody>
                  <a:tcPr>
                    <a:solidFill>
                      <a:srgbClr val="F5F5F5"/>
                    </a:solidFill>
                  </a:tcPr>
                </a:tc>
                <a:extLst>
                  <a:ext uri="{0D108BD9-81ED-4DB2-BD59-A6C34878D82A}">
                    <a16:rowId xmlns:a16="http://schemas.microsoft.com/office/drawing/2014/main" val="10001"/>
                  </a:ext>
                </a:extLst>
              </a:tr>
              <a:tr h="198000">
                <a:tc>
                  <a:txBody>
                    <a:bodyPr/>
                    <a:lstStyle/>
                    <a:p>
                      <a:r>
                        <a:rPr sz="1200" b="0">
                          <a:solidFill>
                            <a:srgbClr val="000000"/>
                          </a:solidFill>
                          <a:latin typeface="Meiryo"/>
                        </a:rPr>
                        <a:t>ピンチアウト（2本指で広げる）</a:t>
                      </a:r>
                    </a:p>
                  </a:txBody>
                  <a:tcPr>
                    <a:solidFill>
                      <a:srgbClr val="FFFFFF"/>
                    </a:solidFill>
                  </a:tcPr>
                </a:tc>
                <a:tc>
                  <a:txBody>
                    <a:bodyPr/>
                    <a:lstStyle/>
                    <a:p>
                      <a:r>
                        <a:rPr sz="1200" b="0">
                          <a:solidFill>
                            <a:srgbClr val="000000"/>
                          </a:solidFill>
                          <a:latin typeface="Meiryo"/>
                        </a:rPr>
                        <a:t>拡大（最大 5 倍）</a:t>
                      </a:r>
                    </a:p>
                  </a:txBody>
                  <a:tcPr>
                    <a:solidFill>
                      <a:srgbClr val="FFFFFF"/>
                    </a:solidFill>
                  </a:tcPr>
                </a:tc>
                <a:extLst>
                  <a:ext uri="{0D108BD9-81ED-4DB2-BD59-A6C34878D82A}">
                    <a16:rowId xmlns:a16="http://schemas.microsoft.com/office/drawing/2014/main" val="10002"/>
                  </a:ext>
                </a:extLst>
              </a:tr>
              <a:tr h="198000">
                <a:tc>
                  <a:txBody>
                    <a:bodyPr/>
                    <a:lstStyle/>
                    <a:p>
                      <a:r>
                        <a:rPr sz="1200" b="0">
                          <a:solidFill>
                            <a:srgbClr val="000000"/>
                          </a:solidFill>
                          <a:latin typeface="Meiryo"/>
                        </a:rPr>
                        <a:t>ピンチイン（2本指で縮める）</a:t>
                      </a:r>
                    </a:p>
                  </a:txBody>
                  <a:tcPr>
                    <a:solidFill>
                      <a:srgbClr val="F5F5F5"/>
                    </a:solidFill>
                  </a:tcPr>
                </a:tc>
                <a:tc>
                  <a:txBody>
                    <a:bodyPr/>
                    <a:lstStyle/>
                    <a:p>
                      <a:r>
                        <a:rPr sz="1200" b="0">
                          <a:solidFill>
                            <a:srgbClr val="000000"/>
                          </a:solidFill>
                          <a:latin typeface="Meiryo"/>
                        </a:rPr>
                        <a:t>縮小（標準倍率まで）</a:t>
                      </a:r>
                    </a:p>
                  </a:txBody>
                  <a:tcPr>
                    <a:solidFill>
                      <a:srgbClr val="F5F5F5"/>
                    </a:solidFill>
                  </a:tcPr>
                </a:tc>
                <a:extLst>
                  <a:ext uri="{0D108BD9-81ED-4DB2-BD59-A6C34878D82A}">
                    <a16:rowId xmlns:a16="http://schemas.microsoft.com/office/drawing/2014/main" val="10003"/>
                  </a:ext>
                </a:extLst>
              </a:tr>
              <a:tr h="198000">
                <a:tc>
                  <a:txBody>
                    <a:bodyPr/>
                    <a:lstStyle/>
                    <a:p>
                      <a:r>
                        <a:rPr sz="1200" b="0">
                          <a:solidFill>
                            <a:srgbClr val="000000"/>
                          </a:solidFill>
                          <a:latin typeface="Meiryo"/>
                        </a:rPr>
                        <a:t>拡大中に横スワイプ</a:t>
                      </a:r>
                    </a:p>
                  </a:txBody>
                  <a:tcPr>
                    <a:solidFill>
                      <a:srgbClr val="FFFFFF"/>
                    </a:solidFill>
                  </a:tcPr>
                </a:tc>
                <a:tc>
                  <a:txBody>
                    <a:bodyPr/>
                    <a:lstStyle/>
                    <a:p>
                      <a:r>
                        <a:rPr sz="1200" b="0">
                          <a:solidFill>
                            <a:srgbClr val="000000"/>
                          </a:solidFill>
                          <a:latin typeface="Meiryo"/>
                        </a:rPr>
                        <a:t>ページ送りは無効 → 画面のパン（スクロール）操作になる</a:t>
                      </a:r>
                    </a:p>
                  </a:txBody>
                  <a:tcPr>
                    <a:solidFill>
                      <a:srgbClr val="FFFFFF"/>
                    </a:solidFill>
                  </a:tcPr>
                </a:tc>
                <a:extLst>
                  <a:ext uri="{0D108BD9-81ED-4DB2-BD59-A6C34878D82A}">
                    <a16:rowId xmlns:a16="http://schemas.microsoft.com/office/drawing/2014/main" val="10004"/>
                  </a:ext>
                </a:extLst>
              </a:tr>
              <a:tr h="198000">
                <a:tc>
                  <a:txBody>
                    <a:bodyPr/>
                    <a:lstStyle/>
                    <a:p>
                      <a:r>
                        <a:rPr sz="1200" b="0">
                          <a:solidFill>
                            <a:srgbClr val="000000"/>
                          </a:solidFill>
                          <a:latin typeface="Meiryo"/>
                        </a:rPr>
                        <a:t>画面タップ（1回）</a:t>
                      </a:r>
                    </a:p>
                  </a:txBody>
                  <a:tcPr>
                    <a:solidFill>
                      <a:srgbClr val="F5F5F5"/>
                    </a:solidFill>
                  </a:tcPr>
                </a:tc>
                <a:tc>
                  <a:txBody>
                    <a:bodyPr/>
                    <a:lstStyle/>
                    <a:p>
                      <a:r>
                        <a:rPr sz="1200" b="0">
                          <a:solidFill>
                            <a:srgbClr val="000000"/>
                          </a:solidFill>
                          <a:latin typeface="Meiryo"/>
                        </a:rPr>
                        <a:t>上部バー・下部サムネイルの 表示 ⇔ 非表示 切替</a:t>
                      </a:r>
                    </a:p>
                  </a:txBody>
                  <a:tcPr>
                    <a:solidFill>
                      <a:srgbClr val="F5F5F5"/>
                    </a:solidFill>
                  </a:tcPr>
                </a:tc>
                <a:extLst>
                  <a:ext uri="{0D108BD9-81ED-4DB2-BD59-A6C34878D82A}">
                    <a16:rowId xmlns:a16="http://schemas.microsoft.com/office/drawing/2014/main" val="10005"/>
                  </a:ext>
                </a:extLst>
              </a:tr>
              <a:tr h="198000">
                <a:tc>
                  <a:txBody>
                    <a:bodyPr/>
                    <a:lstStyle/>
                    <a:p>
                      <a:r>
                        <a:rPr sz="1200" b="0">
                          <a:solidFill>
                            <a:srgbClr val="000000"/>
                          </a:solidFill>
                          <a:latin typeface="Meiryo"/>
                        </a:rPr>
                        <a:t>ブックマークボタン タップ</a:t>
                      </a:r>
                    </a:p>
                  </a:txBody>
                  <a:tcPr>
                    <a:solidFill>
                      <a:srgbClr val="FFFFFF"/>
                    </a:solidFill>
                  </a:tcPr>
                </a:tc>
                <a:tc>
                  <a:txBody>
                    <a:bodyPr/>
                    <a:lstStyle/>
                    <a:p>
                      <a:r>
                        <a:rPr sz="1200" b="0">
                          <a:solidFill>
                            <a:srgbClr val="000000"/>
                          </a:solidFill>
                          <a:latin typeface="Meiryo"/>
                        </a:rPr>
                        <a:t>現在ページをブックマーク追加 / 解除（アプリ終了後も保持）</a:t>
                      </a:r>
                    </a:p>
                  </a:txBody>
                  <a:tcPr>
                    <a:solidFill>
                      <a:srgbClr val="FFFFFF"/>
                    </a:solidFill>
                  </a:tcPr>
                </a:tc>
                <a:extLst>
                  <a:ext uri="{0D108BD9-81ED-4DB2-BD59-A6C34878D82A}">
                    <a16:rowId xmlns:a16="http://schemas.microsoft.com/office/drawing/2014/main" val="10006"/>
                  </a:ext>
                </a:extLst>
              </a:tr>
              <a:tr h="198000">
                <a:tc>
                  <a:txBody>
                    <a:bodyPr/>
                    <a:lstStyle/>
                    <a:p>
                      <a:r>
                        <a:rPr sz="1200" b="0">
                          <a:solidFill>
                            <a:srgbClr val="000000"/>
                          </a:solidFill>
                          <a:latin typeface="Meiryo"/>
                        </a:rPr>
                        <a:t>サムネイル タップ</a:t>
                      </a:r>
                    </a:p>
                  </a:txBody>
                  <a:tcPr>
                    <a:solidFill>
                      <a:srgbClr val="F5F5F5"/>
                    </a:solidFill>
                  </a:tcPr>
                </a:tc>
                <a:tc>
                  <a:txBody>
                    <a:bodyPr/>
                    <a:lstStyle/>
                    <a:p>
                      <a:r>
                        <a:rPr sz="1200" b="0">
                          <a:solidFill>
                            <a:srgbClr val="000000"/>
                          </a:solidFill>
                          <a:latin typeface="Meiryo"/>
                        </a:rPr>
                        <a:t>タップしたページへジャンプ</a:t>
                      </a:r>
                    </a:p>
                  </a:txBody>
                  <a:tcPr>
                    <a:solidFill>
                      <a:srgbClr val="F5F5F5"/>
                    </a:solidFill>
                  </a:tcPr>
                </a:tc>
                <a:extLst>
                  <a:ext uri="{0D108BD9-81ED-4DB2-BD59-A6C34878D82A}">
                    <a16:rowId xmlns:a16="http://schemas.microsoft.com/office/drawing/2014/main" val="10007"/>
                  </a:ext>
                </a:extLst>
              </a:tr>
              <a:tr h="198000">
                <a:tc>
                  <a:txBody>
                    <a:bodyPr/>
                    <a:lstStyle/>
                    <a:p>
                      <a:r>
                        <a:rPr sz="1200" b="0">
                          <a:solidFill>
                            <a:srgbClr val="000000"/>
                          </a:solidFill>
                          <a:latin typeface="Meiryo"/>
                        </a:rPr>
                        <a:t>PDF内URLリンク タップ</a:t>
                      </a:r>
                    </a:p>
                  </a:txBody>
                  <a:tcPr>
                    <a:solidFill>
                      <a:srgbClr val="FFFFFF"/>
                    </a:solidFill>
                  </a:tcPr>
                </a:tc>
                <a:tc>
                  <a:txBody>
                    <a:bodyPr/>
                    <a:lstStyle/>
                    <a:p>
                      <a:r>
                        <a:rPr sz="1200" b="0">
                          <a:solidFill>
                            <a:srgbClr val="000000"/>
                          </a:solidFill>
                          <a:latin typeface="Meiryo"/>
                        </a:rPr>
                        <a:t>アプリ内 WebView でウェブページを表示</a:t>
                      </a:r>
                    </a:p>
                  </a:txBody>
                  <a:tcPr>
                    <a:solidFill>
                      <a:srgbClr val="FFFFFF"/>
                    </a:solidFill>
                  </a:tcPr>
                </a:tc>
                <a:extLst>
                  <a:ext uri="{0D108BD9-81ED-4DB2-BD59-A6C34878D82A}">
                    <a16:rowId xmlns:a16="http://schemas.microsoft.com/office/drawing/2014/main" val="10008"/>
                  </a:ext>
                </a:extLst>
              </a:tr>
              <a:tr h="198000">
                <a:tc>
                  <a:txBody>
                    <a:bodyPr/>
                    <a:lstStyle/>
                    <a:p>
                      <a:r>
                        <a:rPr sz="1200" b="0">
                          <a:solidFill>
                            <a:srgbClr val="000000"/>
                          </a:solidFill>
                          <a:latin typeface="Meiryo"/>
                        </a:rPr>
                        <a:t>PDF内ページリンク タップ</a:t>
                      </a:r>
                    </a:p>
                  </a:txBody>
                  <a:tcPr>
                    <a:solidFill>
                      <a:srgbClr val="F5F5F5"/>
                    </a:solidFill>
                  </a:tcPr>
                </a:tc>
                <a:tc>
                  <a:txBody>
                    <a:bodyPr/>
                    <a:lstStyle/>
                    <a:p>
                      <a:r>
                        <a:rPr sz="1200" b="0">
                          <a:solidFill>
                            <a:srgbClr val="000000"/>
                          </a:solidFill>
                          <a:latin typeface="Meiryo"/>
                        </a:rPr>
                        <a:t>リンク先のページへジャンプ</a:t>
                      </a:r>
                    </a:p>
                  </a:txBody>
                  <a:tcPr>
                    <a:solidFill>
                      <a:srgbClr val="F5F5F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4. PDFビューア 機能一覧</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9</a:t>
            </a:r>
          </a:p>
        </p:txBody>
      </p:sp>
      <p:sp>
        <p:nvSpPr>
          <p:cNvPr id="5" name="Rectangle 4"/>
          <p:cNvSpPr/>
          <p:nvPr/>
        </p:nvSpPr>
        <p:spPr>
          <a:xfrm>
            <a:off x="216000" y="612000"/>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88000" y="630000"/>
            <a:ext cx="3167999" cy="198000"/>
          </a:xfrm>
          <a:prstGeom prst="rect">
            <a:avLst/>
          </a:prstGeom>
          <a:noFill/>
        </p:spPr>
        <p:txBody>
          <a:bodyPr wrap="square">
            <a:spAutoFit/>
          </a:bodyPr>
          <a:lstStyle/>
          <a:p>
            <a:pPr algn="l"/>
            <a:r>
              <a:rPr sz="1200" b="1">
                <a:solidFill>
                  <a:srgbClr val="CC0000"/>
                </a:solidFill>
                <a:latin typeface="Meiryo"/>
              </a:rPr>
              <a:t>ページナビゲーション</a:t>
            </a:r>
          </a:p>
        </p:txBody>
      </p:sp>
      <p:sp>
        <p:nvSpPr>
          <p:cNvPr id="7" name="TextBox 6"/>
          <p:cNvSpPr txBox="1"/>
          <p:nvPr/>
        </p:nvSpPr>
        <p:spPr>
          <a:xfrm>
            <a:off x="288000" y="820800"/>
            <a:ext cx="3167999" cy="288000"/>
          </a:xfrm>
          <a:prstGeom prst="rect">
            <a:avLst/>
          </a:prstGeom>
          <a:noFill/>
        </p:spPr>
        <p:txBody>
          <a:bodyPr wrap="square">
            <a:spAutoFit/>
          </a:bodyPr>
          <a:lstStyle/>
          <a:p>
            <a:pPr algn="l"/>
            <a:r>
              <a:rPr sz="1000" b="0">
                <a:solidFill>
                  <a:srgbClr val="000000"/>
                </a:solidFill>
                <a:latin typeface="Meiryo"/>
              </a:rPr>
              <a:t>横スワイプ + 下部サムネイルストリップでページ操作</a:t>
            </a:r>
          </a:p>
        </p:txBody>
      </p:sp>
      <p:sp>
        <p:nvSpPr>
          <p:cNvPr id="8" name="Rectangle 7"/>
          <p:cNvSpPr/>
          <p:nvPr/>
        </p:nvSpPr>
        <p:spPr>
          <a:xfrm>
            <a:off x="3671999" y="612000"/>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43999" y="630000"/>
            <a:ext cx="3167999" cy="198000"/>
          </a:xfrm>
          <a:prstGeom prst="rect">
            <a:avLst/>
          </a:prstGeom>
          <a:noFill/>
        </p:spPr>
        <p:txBody>
          <a:bodyPr wrap="square">
            <a:spAutoFit/>
          </a:bodyPr>
          <a:lstStyle/>
          <a:p>
            <a:pPr algn="l"/>
            <a:r>
              <a:rPr sz="1200" b="1">
                <a:solidFill>
                  <a:srgbClr val="CC0000"/>
                </a:solidFill>
                <a:latin typeface="Meiryo"/>
              </a:rPr>
              <a:t>ピンチズーム</a:t>
            </a:r>
          </a:p>
        </p:txBody>
      </p:sp>
      <p:sp>
        <p:nvSpPr>
          <p:cNvPr id="10" name="TextBox 9"/>
          <p:cNvSpPr txBox="1"/>
          <p:nvPr/>
        </p:nvSpPr>
        <p:spPr>
          <a:xfrm>
            <a:off x="3743999" y="820800"/>
            <a:ext cx="3167999" cy="288000"/>
          </a:xfrm>
          <a:prstGeom prst="rect">
            <a:avLst/>
          </a:prstGeom>
          <a:noFill/>
        </p:spPr>
        <p:txBody>
          <a:bodyPr wrap="square">
            <a:spAutoFit/>
          </a:bodyPr>
          <a:lstStyle/>
          <a:p>
            <a:pPr algn="l"/>
            <a:r>
              <a:rPr sz="1000" b="0">
                <a:solidFill>
                  <a:srgbClr val="000000"/>
                </a:solidFill>
                <a:latin typeface="Meiryo"/>
              </a:rPr>
              <a:t>最大 5 倍まで拡大。拡大中はスワイプがパン操作に切替</a:t>
            </a:r>
          </a:p>
        </p:txBody>
      </p:sp>
      <p:sp>
        <p:nvSpPr>
          <p:cNvPr id="11" name="Rectangle 10"/>
          <p:cNvSpPr/>
          <p:nvPr/>
        </p:nvSpPr>
        <p:spPr>
          <a:xfrm>
            <a:off x="7127998" y="612000"/>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99998" y="630000"/>
            <a:ext cx="3167999" cy="198000"/>
          </a:xfrm>
          <a:prstGeom prst="rect">
            <a:avLst/>
          </a:prstGeom>
          <a:noFill/>
        </p:spPr>
        <p:txBody>
          <a:bodyPr wrap="square">
            <a:spAutoFit/>
          </a:bodyPr>
          <a:lstStyle/>
          <a:p>
            <a:pPr algn="l"/>
            <a:r>
              <a:rPr sz="1200" b="1">
                <a:solidFill>
                  <a:srgbClr val="CC0000"/>
                </a:solidFill>
                <a:latin typeface="Meiryo"/>
              </a:rPr>
              <a:t>ブックマーク</a:t>
            </a:r>
          </a:p>
        </p:txBody>
      </p:sp>
      <p:sp>
        <p:nvSpPr>
          <p:cNvPr id="13" name="TextBox 12"/>
          <p:cNvSpPr txBox="1"/>
          <p:nvPr/>
        </p:nvSpPr>
        <p:spPr>
          <a:xfrm>
            <a:off x="7199998" y="820800"/>
            <a:ext cx="3167999" cy="288000"/>
          </a:xfrm>
          <a:prstGeom prst="rect">
            <a:avLst/>
          </a:prstGeom>
          <a:noFill/>
        </p:spPr>
        <p:txBody>
          <a:bodyPr wrap="square">
            <a:spAutoFit/>
          </a:bodyPr>
          <a:lstStyle/>
          <a:p>
            <a:pPr algn="l"/>
            <a:r>
              <a:rPr sz="1000" b="0">
                <a:solidFill>
                  <a:srgbClr val="000000"/>
                </a:solidFill>
                <a:latin typeface="Meiryo"/>
              </a:rPr>
              <a:t>ページ単位で保存。アプリ終了後も維持</a:t>
            </a:r>
          </a:p>
        </p:txBody>
      </p:sp>
      <p:sp>
        <p:nvSpPr>
          <p:cNvPr id="14" name="Rectangle 13"/>
          <p:cNvSpPr/>
          <p:nvPr/>
        </p:nvSpPr>
        <p:spPr>
          <a:xfrm>
            <a:off x="216000" y="1259999"/>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8000" y="1277999"/>
            <a:ext cx="3167999" cy="198000"/>
          </a:xfrm>
          <a:prstGeom prst="rect">
            <a:avLst/>
          </a:prstGeom>
          <a:noFill/>
        </p:spPr>
        <p:txBody>
          <a:bodyPr wrap="square">
            <a:spAutoFit/>
          </a:bodyPr>
          <a:lstStyle/>
          <a:p>
            <a:pPr algn="l"/>
            <a:r>
              <a:rPr sz="1200" b="1">
                <a:solidFill>
                  <a:srgbClr val="CC0000"/>
                </a:solidFill>
                <a:latin typeface="Meiryo"/>
              </a:rPr>
              <a:t>キーワード検索</a:t>
            </a:r>
          </a:p>
        </p:txBody>
      </p:sp>
      <p:sp>
        <p:nvSpPr>
          <p:cNvPr id="16" name="TextBox 15"/>
          <p:cNvSpPr txBox="1"/>
          <p:nvPr/>
        </p:nvSpPr>
        <p:spPr>
          <a:xfrm>
            <a:off x="288000" y="1468799"/>
            <a:ext cx="3167999" cy="288000"/>
          </a:xfrm>
          <a:prstGeom prst="rect">
            <a:avLst/>
          </a:prstGeom>
          <a:noFill/>
        </p:spPr>
        <p:txBody>
          <a:bodyPr wrap="square">
            <a:spAutoFit/>
          </a:bodyPr>
          <a:lstStyle/>
          <a:p>
            <a:pPr algn="l"/>
            <a:r>
              <a:rPr sz="1000" b="0">
                <a:solidFill>
                  <a:srgbClr val="000000"/>
                </a:solidFill>
                <a:latin typeface="Meiryo"/>
              </a:rPr>
              <a:t>全ページを対象にテキスト検索。ヒット箇所をハイライト＆前後ナビ</a:t>
            </a:r>
          </a:p>
        </p:txBody>
      </p:sp>
      <p:sp>
        <p:nvSpPr>
          <p:cNvPr id="17" name="Rectangle 16"/>
          <p:cNvSpPr/>
          <p:nvPr/>
        </p:nvSpPr>
        <p:spPr>
          <a:xfrm>
            <a:off x="3671999" y="1259999"/>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3999" y="1277999"/>
            <a:ext cx="3167999" cy="198000"/>
          </a:xfrm>
          <a:prstGeom prst="rect">
            <a:avLst/>
          </a:prstGeom>
          <a:noFill/>
        </p:spPr>
        <p:txBody>
          <a:bodyPr wrap="square">
            <a:spAutoFit/>
          </a:bodyPr>
          <a:lstStyle/>
          <a:p>
            <a:pPr algn="l"/>
            <a:r>
              <a:rPr sz="1200" b="1">
                <a:solidFill>
                  <a:srgbClr val="CC0000"/>
                </a:solidFill>
                <a:latin typeface="Meiryo"/>
              </a:rPr>
              <a:t>目次（アウトライン）</a:t>
            </a:r>
          </a:p>
        </p:txBody>
      </p:sp>
      <p:sp>
        <p:nvSpPr>
          <p:cNvPr id="19" name="TextBox 18"/>
          <p:cNvSpPr txBox="1"/>
          <p:nvPr/>
        </p:nvSpPr>
        <p:spPr>
          <a:xfrm>
            <a:off x="3743999" y="1468799"/>
            <a:ext cx="3167999" cy="288000"/>
          </a:xfrm>
          <a:prstGeom prst="rect">
            <a:avLst/>
          </a:prstGeom>
          <a:noFill/>
        </p:spPr>
        <p:txBody>
          <a:bodyPr wrap="square">
            <a:spAutoFit/>
          </a:bodyPr>
          <a:lstStyle/>
          <a:p>
            <a:pPr algn="l"/>
            <a:r>
              <a:rPr sz="1000" b="0">
                <a:solidFill>
                  <a:srgbClr val="000000"/>
                </a:solidFill>
                <a:latin typeface="Meiryo"/>
              </a:rPr>
              <a:t>PDFに目次が含まれる場合、タップでページジャンプ</a:t>
            </a:r>
          </a:p>
        </p:txBody>
      </p:sp>
      <p:sp>
        <p:nvSpPr>
          <p:cNvPr id="20" name="Rectangle 19"/>
          <p:cNvSpPr/>
          <p:nvPr/>
        </p:nvSpPr>
        <p:spPr>
          <a:xfrm>
            <a:off x="7127998" y="1259999"/>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99998" y="1277999"/>
            <a:ext cx="3167999" cy="198000"/>
          </a:xfrm>
          <a:prstGeom prst="rect">
            <a:avLst/>
          </a:prstGeom>
          <a:noFill/>
        </p:spPr>
        <p:txBody>
          <a:bodyPr wrap="square">
            <a:spAutoFit/>
          </a:bodyPr>
          <a:lstStyle/>
          <a:p>
            <a:pPr algn="l"/>
            <a:r>
              <a:rPr sz="1200" b="1">
                <a:solidFill>
                  <a:srgbClr val="CC0000"/>
                </a:solidFill>
                <a:latin typeface="Meiryo"/>
              </a:rPr>
              <a:t>ダークモード対応</a:t>
            </a:r>
          </a:p>
        </p:txBody>
      </p:sp>
      <p:sp>
        <p:nvSpPr>
          <p:cNvPr id="22" name="TextBox 21"/>
          <p:cNvSpPr txBox="1"/>
          <p:nvPr/>
        </p:nvSpPr>
        <p:spPr>
          <a:xfrm>
            <a:off x="7199998" y="1468799"/>
            <a:ext cx="3167999" cy="288000"/>
          </a:xfrm>
          <a:prstGeom prst="rect">
            <a:avLst/>
          </a:prstGeom>
          <a:noFill/>
        </p:spPr>
        <p:txBody>
          <a:bodyPr wrap="square">
            <a:spAutoFit/>
          </a:bodyPr>
          <a:lstStyle/>
          <a:p>
            <a:pPr algn="l"/>
            <a:r>
              <a:rPr sz="1000" b="0">
                <a:solidFill>
                  <a:srgbClr val="000000"/>
                </a:solidFill>
                <a:latin typeface="Meiryo"/>
              </a:rPr>
              <a:t>PDFページの色を反転表示。目に優しい夜間閲覧が可能</a:t>
            </a:r>
          </a:p>
        </p:txBody>
      </p:sp>
      <p:sp>
        <p:nvSpPr>
          <p:cNvPr id="23" name="Rectangle 22"/>
          <p:cNvSpPr/>
          <p:nvPr/>
        </p:nvSpPr>
        <p:spPr>
          <a:xfrm>
            <a:off x="216000" y="1907998"/>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88000" y="1925998"/>
            <a:ext cx="3167999" cy="198000"/>
          </a:xfrm>
          <a:prstGeom prst="rect">
            <a:avLst/>
          </a:prstGeom>
          <a:noFill/>
        </p:spPr>
        <p:txBody>
          <a:bodyPr wrap="square">
            <a:spAutoFit/>
          </a:bodyPr>
          <a:lstStyle/>
          <a:p>
            <a:pPr algn="l"/>
            <a:r>
              <a:rPr sz="1200" b="1">
                <a:solidFill>
                  <a:srgbClr val="CC0000"/>
                </a:solidFill>
                <a:latin typeface="Meiryo"/>
              </a:rPr>
              <a:t>PDF内リンク対応</a:t>
            </a:r>
          </a:p>
        </p:txBody>
      </p:sp>
      <p:sp>
        <p:nvSpPr>
          <p:cNvPr id="25" name="TextBox 24"/>
          <p:cNvSpPr txBox="1"/>
          <p:nvPr/>
        </p:nvSpPr>
        <p:spPr>
          <a:xfrm>
            <a:off x="288000" y="2116798"/>
            <a:ext cx="3167999" cy="288000"/>
          </a:xfrm>
          <a:prstGeom prst="rect">
            <a:avLst/>
          </a:prstGeom>
          <a:noFill/>
        </p:spPr>
        <p:txBody>
          <a:bodyPr wrap="square">
            <a:spAutoFit/>
          </a:bodyPr>
          <a:lstStyle/>
          <a:p>
            <a:pPr algn="l"/>
            <a:r>
              <a:rPr sz="1000" b="0">
                <a:solidFill>
                  <a:srgbClr val="000000"/>
                </a:solidFill>
                <a:latin typeface="Meiryo"/>
              </a:rPr>
              <a:t>URLリンクは内蔵WebViewで、ページリンクはジャンプで処理</a:t>
            </a:r>
          </a:p>
        </p:txBody>
      </p:sp>
      <p:sp>
        <p:nvSpPr>
          <p:cNvPr id="26" name="Rectangle 25"/>
          <p:cNvSpPr/>
          <p:nvPr/>
        </p:nvSpPr>
        <p:spPr>
          <a:xfrm>
            <a:off x="3671999" y="1907998"/>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43999" y="1925998"/>
            <a:ext cx="3167999" cy="198000"/>
          </a:xfrm>
          <a:prstGeom prst="rect">
            <a:avLst/>
          </a:prstGeom>
          <a:noFill/>
        </p:spPr>
        <p:txBody>
          <a:bodyPr wrap="square">
            <a:spAutoFit/>
          </a:bodyPr>
          <a:lstStyle/>
          <a:p>
            <a:pPr algn="l"/>
            <a:r>
              <a:rPr sz="1200" b="1">
                <a:solidFill>
                  <a:srgbClr val="CC0000"/>
                </a:solidFill>
                <a:latin typeface="Meiryo"/>
              </a:rPr>
              <a:t>サムネイル一覧</a:t>
            </a:r>
          </a:p>
        </p:txBody>
      </p:sp>
      <p:sp>
        <p:nvSpPr>
          <p:cNvPr id="28" name="TextBox 27"/>
          <p:cNvSpPr txBox="1"/>
          <p:nvPr/>
        </p:nvSpPr>
        <p:spPr>
          <a:xfrm>
            <a:off x="3743999" y="2116798"/>
            <a:ext cx="3167999" cy="288000"/>
          </a:xfrm>
          <a:prstGeom prst="rect">
            <a:avLst/>
          </a:prstGeom>
          <a:noFill/>
        </p:spPr>
        <p:txBody>
          <a:bodyPr wrap="square">
            <a:spAutoFit/>
          </a:bodyPr>
          <a:lstStyle/>
          <a:p>
            <a:pPr algn="l"/>
            <a:r>
              <a:rPr sz="1000" b="0">
                <a:solidFill>
                  <a:srgbClr val="000000"/>
                </a:solidFill>
                <a:latin typeface="Meiryo"/>
              </a:rPr>
              <a:t>画面下部のストリップで全ページを俯瞰。ブックマークページは強調表示</a:t>
            </a:r>
          </a:p>
        </p:txBody>
      </p:sp>
      <p:sp>
        <p:nvSpPr>
          <p:cNvPr id="29" name="Rectangle 28"/>
          <p:cNvSpPr/>
          <p:nvPr/>
        </p:nvSpPr>
        <p:spPr>
          <a:xfrm>
            <a:off x="7127998" y="1907998"/>
            <a:ext cx="3311999" cy="522000"/>
          </a:xfrm>
          <a:prstGeom prst="rect">
            <a:avLst/>
          </a:prstGeom>
          <a:solidFill>
            <a:srgbClr val="F5F5F5"/>
          </a:solidFill>
          <a:ln w="1016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99998" y="1925998"/>
            <a:ext cx="3167999" cy="198000"/>
          </a:xfrm>
          <a:prstGeom prst="rect">
            <a:avLst/>
          </a:prstGeom>
          <a:noFill/>
        </p:spPr>
        <p:txBody>
          <a:bodyPr wrap="square">
            <a:spAutoFit/>
          </a:bodyPr>
          <a:lstStyle/>
          <a:p>
            <a:pPr algn="l"/>
            <a:r>
              <a:rPr sz="1200" b="1">
                <a:solidFill>
                  <a:srgbClr val="CC0000"/>
                </a:solidFill>
                <a:latin typeface="Meiryo"/>
              </a:rPr>
              <a:t>UI自動非表示</a:t>
            </a:r>
          </a:p>
        </p:txBody>
      </p:sp>
      <p:sp>
        <p:nvSpPr>
          <p:cNvPr id="31" name="TextBox 30"/>
          <p:cNvSpPr txBox="1"/>
          <p:nvPr/>
        </p:nvSpPr>
        <p:spPr>
          <a:xfrm>
            <a:off x="7199998" y="2116798"/>
            <a:ext cx="3167999" cy="288000"/>
          </a:xfrm>
          <a:prstGeom prst="rect">
            <a:avLst/>
          </a:prstGeom>
          <a:noFill/>
        </p:spPr>
        <p:txBody>
          <a:bodyPr wrap="square">
            <a:spAutoFit/>
          </a:bodyPr>
          <a:lstStyle/>
          <a:p>
            <a:pPr algn="l"/>
            <a:r>
              <a:rPr sz="1000" b="0">
                <a:solidFill>
                  <a:srgbClr val="000000"/>
                </a:solidFill>
                <a:latin typeface="Meiryo"/>
              </a:rPr>
              <a:t>画面タップでバー類を非表示にし、PDFの閲覧領域を最大化</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4. サイドドロワー 詳細（3タブ構成）</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10</a:t>
            </a:r>
          </a:p>
        </p:txBody>
      </p:sp>
      <p:sp>
        <p:nvSpPr>
          <p:cNvPr id="5" name="TextBox 4"/>
          <p:cNvSpPr txBox="1"/>
          <p:nvPr/>
        </p:nvSpPr>
        <p:spPr>
          <a:xfrm>
            <a:off x="360000" y="576000"/>
            <a:ext cx="10440000" cy="360000"/>
          </a:xfrm>
          <a:prstGeom prst="rect">
            <a:avLst/>
          </a:prstGeom>
          <a:noFill/>
        </p:spPr>
        <p:txBody>
          <a:bodyPr wrap="square">
            <a:spAutoFit/>
          </a:bodyPr>
          <a:lstStyle/>
          <a:p>
            <a:pPr algn="l"/>
            <a:r>
              <a:rPr sz="1300" b="0">
                <a:solidFill>
                  <a:srgbClr val="000000"/>
                </a:solidFill>
                <a:latin typeface="Meiryo"/>
              </a:rPr>
              <a:t>PDFビューア左上のメニューボタンをタップすると、サイドドロワーが開きます。
目次・ブックマーク・キーワード検索の3タブを切り替えて使用できます。</a:t>
            </a:r>
          </a:p>
        </p:txBody>
      </p:sp>
      <p:graphicFrame>
        <p:nvGraphicFramePr>
          <p:cNvPr id="6" name="Table 5"/>
          <p:cNvGraphicFramePr>
            <a:graphicFrameLocks noGrp="1"/>
          </p:cNvGraphicFramePr>
          <p:nvPr/>
        </p:nvGraphicFramePr>
        <p:xfrm>
          <a:off x="360000" y="972000"/>
          <a:ext cx="9900000" cy="397116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620000">
                  <a:extLst>
                    <a:ext uri="{9D8B030D-6E8A-4147-A177-3AD203B41FA5}">
                      <a16:colId xmlns:a16="http://schemas.microsoft.com/office/drawing/2014/main" val="20001"/>
                    </a:ext>
                  </a:extLst>
                </a:gridCol>
                <a:gridCol w="6840000">
                  <a:extLst>
                    <a:ext uri="{9D8B030D-6E8A-4147-A177-3AD203B41FA5}">
                      <a16:colId xmlns:a16="http://schemas.microsoft.com/office/drawing/2014/main" val="20002"/>
                    </a:ext>
                  </a:extLst>
                </a:gridCol>
              </a:tblGrid>
              <a:tr h="405000">
                <a:tc>
                  <a:txBody>
                    <a:bodyPr/>
                    <a:lstStyle/>
                    <a:p>
                      <a:r>
                        <a:rPr sz="1200" b="1">
                          <a:solidFill>
                            <a:srgbClr val="FFFFFF"/>
                          </a:solidFill>
                          <a:latin typeface="Meiryo"/>
                        </a:rPr>
                        <a:t>タブ名</a:t>
                      </a:r>
                    </a:p>
                  </a:txBody>
                  <a:tcPr>
                    <a:solidFill>
                      <a:srgbClr val="CC0000"/>
                    </a:solidFill>
                  </a:tcPr>
                </a:tc>
                <a:tc>
                  <a:txBody>
                    <a:bodyPr/>
                    <a:lstStyle/>
                    <a:p>
                      <a:r>
                        <a:rPr sz="1200" b="1">
                          <a:solidFill>
                            <a:srgbClr val="FFFFFF"/>
                          </a:solidFill>
                          <a:latin typeface="Meiryo"/>
                        </a:rPr>
                        <a:t>アイコン</a:t>
                      </a:r>
                    </a:p>
                  </a:txBody>
                  <a:tcPr>
                    <a:solidFill>
                      <a:srgbClr val="CC0000"/>
                    </a:solidFill>
                  </a:tcPr>
                </a:tc>
                <a:tc>
                  <a:txBody>
                    <a:bodyPr/>
                    <a:lstStyle/>
                    <a:p>
                      <a:r>
                        <a:rPr sz="1200" b="1">
                          <a:solidFill>
                            <a:srgbClr val="FFFFFF"/>
                          </a:solidFill>
                          <a:latin typeface="Meiryo"/>
                        </a:rPr>
                        <a:t>機能概要</a:t>
                      </a:r>
                    </a:p>
                  </a:txBody>
                  <a:tcPr>
                    <a:solidFill>
                      <a:srgbClr val="CC0000"/>
                    </a:solidFill>
                  </a:tcPr>
                </a:tc>
                <a:extLst>
                  <a:ext uri="{0D108BD9-81ED-4DB2-BD59-A6C34878D82A}">
                    <a16:rowId xmlns:a16="http://schemas.microsoft.com/office/drawing/2014/main" val="10000"/>
                  </a:ext>
                </a:extLst>
              </a:tr>
              <a:tr h="405000">
                <a:tc>
                  <a:txBody>
                    <a:bodyPr/>
                    <a:lstStyle/>
                    <a:p>
                      <a:r>
                        <a:rPr sz="1200" b="0">
                          <a:solidFill>
                            <a:srgbClr val="000000"/>
                          </a:solidFill>
                          <a:latin typeface="Meiryo"/>
                        </a:rPr>
                        <a:t>目次
（アウトライン）</a:t>
                      </a:r>
                    </a:p>
                    <a:p>
                      <a:r>
                        <a:t>（アウトライン）</a:t>
                      </a:r>
                    </a:p>
                  </a:txBody>
                  <a:tcPr>
                    <a:solidFill>
                      <a:srgbClr val="F5F5F5"/>
                    </a:solidFill>
                  </a:tcPr>
                </a:tc>
                <a:tc>
                  <a:txBody>
                    <a:bodyPr/>
                    <a:lstStyle/>
                    <a:p>
                      <a:r>
                        <a:rPr sz="1200" b="0">
                          <a:solidFill>
                            <a:srgbClr val="000000"/>
                          </a:solidFill>
                          <a:latin typeface="Meiryo"/>
                        </a:rPr>
                        <a:t>≡ リスト</a:t>
                      </a:r>
                    </a:p>
                  </a:txBody>
                  <a:tcPr>
                    <a:solidFill>
                      <a:srgbClr val="F5F5F5"/>
                    </a:solidFill>
                  </a:tcPr>
                </a:tc>
                <a:tc>
                  <a:txBody>
                    <a:bodyPr/>
                    <a:lstStyle/>
                    <a:p>
                      <a:r>
                        <a:rPr sz="1200" b="0">
                          <a:solidFill>
                            <a:srgbClr val="000000"/>
                          </a:solidFill>
                          <a:latin typeface="Meiryo"/>
                        </a:rPr>
                        <a:t>PDFに含まれる目次（章立て）を一覧表示。
各項目をタップすると該当ページへジャンプ。
※ 目次のないPDFでは「目次がありません」と表示。</a:t>
                      </a:r>
                    </a:p>
                    <a:p>
                      <a:r>
                        <a:t>各項目をタップすると該当ページへジャンプ。</a:t>
                      </a:r>
                    </a:p>
                    <a:p>
                      <a:r>
                        <a:t>※ 目次のないPDFでは「目次がありません」と表示。</a:t>
                      </a:r>
                    </a:p>
                  </a:txBody>
                  <a:tcPr>
                    <a:solidFill>
                      <a:srgbClr val="F5F5F5"/>
                    </a:solidFill>
                  </a:tcPr>
                </a:tc>
                <a:extLst>
                  <a:ext uri="{0D108BD9-81ED-4DB2-BD59-A6C34878D82A}">
                    <a16:rowId xmlns:a16="http://schemas.microsoft.com/office/drawing/2014/main" val="10001"/>
                  </a:ext>
                </a:extLst>
              </a:tr>
              <a:tr h="405000">
                <a:tc>
                  <a:txBody>
                    <a:bodyPr/>
                    <a:lstStyle/>
                    <a:p>
                      <a:r>
                        <a:rPr sz="1200" b="0">
                          <a:solidFill>
                            <a:srgbClr val="000000"/>
                          </a:solidFill>
                          <a:latin typeface="Meiryo"/>
                        </a:rPr>
                        <a:t>ブックマーク</a:t>
                      </a:r>
                    </a:p>
                  </a:txBody>
                  <a:tcPr>
                    <a:solidFill>
                      <a:srgbClr val="FFFFFF"/>
                    </a:solidFill>
                  </a:tcPr>
                </a:tc>
                <a:tc>
                  <a:txBody>
                    <a:bodyPr/>
                    <a:lstStyle/>
                    <a:p>
                      <a:r>
                        <a:rPr sz="1200" b="0">
                          <a:solidFill>
                            <a:srgbClr val="000000"/>
                          </a:solidFill>
                          <a:latin typeface="Meiryo"/>
                        </a:rPr>
                        <a:t>🔖 ブックマーク</a:t>
                      </a:r>
                    </a:p>
                  </a:txBody>
                  <a:tcPr>
                    <a:solidFill>
                      <a:srgbClr val="FFFFFF"/>
                    </a:solidFill>
                  </a:tcPr>
                </a:tc>
                <a:tc>
                  <a:txBody>
                    <a:bodyPr/>
                    <a:lstStyle/>
                    <a:p>
                      <a:r>
                        <a:rPr sz="1200" b="0">
                          <a:solidFill>
                            <a:srgbClr val="000000"/>
                          </a:solidFill>
                          <a:latin typeface="Meiryo"/>
                        </a:rPr>
                        <a:t>ブックマークしたページの一覧を表示。
タップで該当ページへジャンプ、削除ボタンで解除。
ブックマークはファイルごとに個別保存される。</a:t>
                      </a:r>
                    </a:p>
                    <a:p>
                      <a:r>
                        <a:t>タップで該当ページへジャンプ、削除ボタンで解除。</a:t>
                      </a:r>
                    </a:p>
                    <a:p>
                      <a:r>
                        <a:t>ブックマークはファイルごとに個別保存される。</a:t>
                      </a:r>
                    </a:p>
                  </a:txBody>
                  <a:tcPr>
                    <a:solidFill>
                      <a:srgbClr val="FFFFFF"/>
                    </a:solidFill>
                  </a:tcPr>
                </a:tc>
                <a:extLst>
                  <a:ext uri="{0D108BD9-81ED-4DB2-BD59-A6C34878D82A}">
                    <a16:rowId xmlns:a16="http://schemas.microsoft.com/office/drawing/2014/main" val="10002"/>
                  </a:ext>
                </a:extLst>
              </a:tr>
              <a:tr h="405000">
                <a:tc>
                  <a:txBody>
                    <a:bodyPr/>
                    <a:lstStyle/>
                    <a:p>
                      <a:r>
                        <a:rPr sz="1200" b="0">
                          <a:solidFill>
                            <a:srgbClr val="000000"/>
                          </a:solidFill>
                          <a:latin typeface="Meiryo"/>
                        </a:rPr>
                        <a:t>キーワード検索</a:t>
                      </a:r>
                    </a:p>
                  </a:txBody>
                  <a:tcPr>
                    <a:solidFill>
                      <a:srgbClr val="F5F5F5"/>
                    </a:solidFill>
                  </a:tcPr>
                </a:tc>
                <a:tc>
                  <a:txBody>
                    <a:bodyPr/>
                    <a:lstStyle/>
                    <a:p>
                      <a:r>
                        <a:rPr sz="1200" b="0">
                          <a:solidFill>
                            <a:srgbClr val="000000"/>
                          </a:solidFill>
                          <a:latin typeface="Meiryo"/>
                        </a:rPr>
                        <a:t>🔍 検索</a:t>
                      </a:r>
                    </a:p>
                  </a:txBody>
                  <a:tcPr>
                    <a:solidFill>
                      <a:srgbClr val="F5F5F5"/>
                    </a:solidFill>
                  </a:tcPr>
                </a:tc>
                <a:tc>
                  <a:txBody>
                    <a:bodyPr/>
                    <a:lstStyle/>
                    <a:p>
                      <a:r>
                        <a:rPr sz="1200" b="0">
                          <a:solidFill>
                            <a:srgbClr val="000000"/>
                          </a:solidFill>
                          <a:latin typeface="Meiryo"/>
                        </a:rPr>
                        <a:t>検索ワードを入力してPDF全ページをテキスト検索。
ヒット箇所は画面上でハイライト表示され、
「前へ／次へ」ボタンで順番にナビゲートできる。</a:t>
                      </a:r>
                    </a:p>
                    <a:p>
                      <a:r>
                        <a:t>ヒット箇所は画面上でハイライト表示され、</a:t>
                      </a:r>
                    </a:p>
                    <a:p>
                      <a:r>
                        <a:t>「前へ／次へ」ボタンで順番にナビゲートできる。</a:t>
                      </a:r>
                    </a:p>
                  </a:txBody>
                  <a:tcPr>
                    <a:solidFill>
                      <a:srgbClr val="F5F5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5. 補足 — テーマ・言語切替</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11</a:t>
            </a:r>
          </a:p>
        </p:txBody>
      </p:sp>
      <p:sp>
        <p:nvSpPr>
          <p:cNvPr id="5" name="TextBox 4"/>
          <p:cNvSpPr txBox="1"/>
          <p:nvPr/>
        </p:nvSpPr>
        <p:spPr>
          <a:xfrm>
            <a:off x="360000" y="612000"/>
            <a:ext cx="7200000" cy="251999"/>
          </a:xfrm>
          <a:prstGeom prst="rect">
            <a:avLst/>
          </a:prstGeom>
          <a:noFill/>
        </p:spPr>
        <p:txBody>
          <a:bodyPr wrap="square">
            <a:spAutoFit/>
          </a:bodyPr>
          <a:lstStyle/>
          <a:p>
            <a:pPr algn="l"/>
            <a:r>
              <a:rPr sz="1600" b="1">
                <a:solidFill>
                  <a:srgbClr val="CC0000"/>
                </a:solidFill>
                <a:latin typeface="Meiryo"/>
              </a:rPr>
              <a:t>切替方法</a:t>
            </a:r>
          </a:p>
        </p:txBody>
      </p:sp>
      <p:sp>
        <p:nvSpPr>
          <p:cNvPr id="6" name="TextBox 5"/>
          <p:cNvSpPr txBox="1"/>
          <p:nvPr/>
        </p:nvSpPr>
        <p:spPr>
          <a:xfrm>
            <a:off x="360000" y="900000"/>
            <a:ext cx="10440000" cy="251999"/>
          </a:xfrm>
          <a:prstGeom prst="rect">
            <a:avLst/>
          </a:prstGeom>
          <a:noFill/>
        </p:spPr>
        <p:txBody>
          <a:bodyPr wrap="square">
            <a:spAutoFit/>
          </a:bodyPr>
          <a:lstStyle/>
          <a:p>
            <a:pPr algn="l"/>
            <a:r>
              <a:rPr sz="1300" b="0">
                <a:solidFill>
                  <a:srgbClr val="000000"/>
                </a:solidFill>
                <a:latin typeface="Meiryo"/>
              </a:rPr>
              <a:t>コンテンツ一覧画面の右上にあるボタンからいつでも切り替えられます。</a:t>
            </a:r>
          </a:p>
        </p:txBody>
      </p:sp>
      <p:graphicFrame>
        <p:nvGraphicFramePr>
          <p:cNvPr id="7" name="Table 6"/>
          <p:cNvGraphicFramePr>
            <a:graphicFrameLocks noGrp="1"/>
          </p:cNvGraphicFramePr>
          <p:nvPr/>
        </p:nvGraphicFramePr>
        <p:xfrm>
          <a:off x="360000" y="1224000"/>
          <a:ext cx="9900000" cy="2073359"/>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5760000">
                  <a:extLst>
                    <a:ext uri="{9D8B030D-6E8A-4147-A177-3AD203B41FA5}">
                      <a16:colId xmlns:a16="http://schemas.microsoft.com/office/drawing/2014/main" val="20002"/>
                    </a:ext>
                  </a:extLst>
                </a:gridCol>
              </a:tblGrid>
              <a:tr h="335999">
                <a:tc>
                  <a:txBody>
                    <a:bodyPr/>
                    <a:lstStyle/>
                    <a:p>
                      <a:r>
                        <a:rPr sz="1200" b="1">
                          <a:solidFill>
                            <a:srgbClr val="FFFFFF"/>
                          </a:solidFill>
                          <a:latin typeface="Meiryo"/>
                        </a:rPr>
                        <a:t>設定項目</a:t>
                      </a:r>
                    </a:p>
                  </a:txBody>
                  <a:tcPr>
                    <a:solidFill>
                      <a:srgbClr val="CC0000"/>
                    </a:solidFill>
                  </a:tcPr>
                </a:tc>
                <a:tc>
                  <a:txBody>
                    <a:bodyPr/>
                    <a:lstStyle/>
                    <a:p>
                      <a:r>
                        <a:rPr sz="1200" b="1">
                          <a:solidFill>
                            <a:srgbClr val="FFFFFF"/>
                          </a:solidFill>
                          <a:latin typeface="Meiryo"/>
                        </a:rPr>
                        <a:t>選択肢</a:t>
                      </a:r>
                    </a:p>
                  </a:txBody>
                  <a:tcPr>
                    <a:solidFill>
                      <a:srgbClr val="CC0000"/>
                    </a:solidFill>
                  </a:tcPr>
                </a:tc>
                <a:tc>
                  <a:txBody>
                    <a:bodyPr/>
                    <a:lstStyle/>
                    <a:p>
                      <a:r>
                        <a:rPr sz="1200" b="1">
                          <a:solidFill>
                            <a:srgbClr val="FFFFFF"/>
                          </a:solidFill>
                          <a:latin typeface="Meiryo"/>
                        </a:rPr>
                        <a:t>特記事項</a:t>
                      </a:r>
                    </a:p>
                  </a:txBody>
                  <a:tcPr>
                    <a:solidFill>
                      <a:srgbClr val="CC0000"/>
                    </a:solidFill>
                  </a:tcPr>
                </a:tc>
                <a:extLst>
                  <a:ext uri="{0D108BD9-81ED-4DB2-BD59-A6C34878D82A}">
                    <a16:rowId xmlns:a16="http://schemas.microsoft.com/office/drawing/2014/main" val="10000"/>
                  </a:ext>
                </a:extLst>
              </a:tr>
              <a:tr h="335999">
                <a:tc>
                  <a:txBody>
                    <a:bodyPr/>
                    <a:lstStyle/>
                    <a:p>
                      <a:r>
                        <a:rPr sz="1200" b="0">
                          <a:solidFill>
                            <a:srgbClr val="000000"/>
                          </a:solidFill>
                          <a:latin typeface="Meiryo"/>
                        </a:rPr>
                        <a:t>テーマ</a:t>
                      </a:r>
                    </a:p>
                  </a:txBody>
                  <a:tcPr>
                    <a:solidFill>
                      <a:srgbClr val="F5F5F5"/>
                    </a:solidFill>
                  </a:tcPr>
                </a:tc>
                <a:tc>
                  <a:txBody>
                    <a:bodyPr/>
                    <a:lstStyle/>
                    <a:p>
                      <a:r>
                        <a:rPr sz="1200" b="0">
                          <a:solidFill>
                            <a:srgbClr val="000000"/>
                          </a:solidFill>
                          <a:latin typeface="Meiryo"/>
                        </a:rPr>
                        <a:t>ライト / ダーク / システム連動</a:t>
                      </a:r>
                    </a:p>
                  </a:txBody>
                  <a:tcPr>
                    <a:solidFill>
                      <a:srgbClr val="F5F5F5"/>
                    </a:solidFill>
                  </a:tcPr>
                </a:tc>
                <a:tc>
                  <a:txBody>
                    <a:bodyPr/>
                    <a:lstStyle/>
                    <a:p>
                      <a:r>
                        <a:rPr sz="1200" b="0">
                          <a:solidFill>
                            <a:srgbClr val="000000"/>
                          </a:solidFill>
                          <a:latin typeface="Meiryo"/>
                        </a:rPr>
                        <a:t>アプリを閉じても設定は保持される。
「システム連動」は端末のダークモード設定に追従。</a:t>
                      </a:r>
                    </a:p>
                    <a:p>
                      <a:r>
                        <a:t>「システム連動」は端末のダークモード設定に追従。</a:t>
                      </a:r>
                    </a:p>
                  </a:txBody>
                  <a:tcPr>
                    <a:solidFill>
                      <a:srgbClr val="F5F5F5"/>
                    </a:solidFill>
                  </a:tcPr>
                </a:tc>
                <a:extLst>
                  <a:ext uri="{0D108BD9-81ED-4DB2-BD59-A6C34878D82A}">
                    <a16:rowId xmlns:a16="http://schemas.microsoft.com/office/drawing/2014/main" val="10001"/>
                  </a:ext>
                </a:extLst>
              </a:tr>
              <a:tr h="336001">
                <a:tc>
                  <a:txBody>
                    <a:bodyPr/>
                    <a:lstStyle/>
                    <a:p>
                      <a:r>
                        <a:rPr sz="1200" b="0">
                          <a:solidFill>
                            <a:srgbClr val="000000"/>
                          </a:solidFill>
                          <a:latin typeface="Meiryo"/>
                        </a:rPr>
                        <a:t>表示言語</a:t>
                      </a:r>
                    </a:p>
                  </a:txBody>
                  <a:tcPr>
                    <a:solidFill>
                      <a:srgbClr val="FFFFFF"/>
                    </a:solidFill>
                  </a:tcPr>
                </a:tc>
                <a:tc>
                  <a:txBody>
                    <a:bodyPr/>
                    <a:lstStyle/>
                    <a:p>
                      <a:r>
                        <a:rPr sz="1200" b="0">
                          <a:solidFill>
                            <a:srgbClr val="000000"/>
                          </a:solidFill>
                          <a:latin typeface="Meiryo"/>
                        </a:rPr>
                        <a:t>日本語 / 英語</a:t>
                      </a:r>
                    </a:p>
                  </a:txBody>
                  <a:tcPr>
                    <a:solidFill>
                      <a:srgbClr val="FFFFFF"/>
                    </a:solidFill>
                  </a:tcPr>
                </a:tc>
                <a:tc>
                  <a:txBody>
                    <a:bodyPr/>
                    <a:lstStyle/>
                    <a:p>
                      <a:r>
                        <a:rPr sz="1200" b="0">
                          <a:solidFill>
                            <a:srgbClr val="000000"/>
                          </a:solidFill>
                          <a:latin typeface="Meiryo"/>
                        </a:rPr>
                        <a:t>アプリを閉じても設定は保持される。
コンテンツ内容（タイトル・説明文）も言語に応じて切替。</a:t>
                      </a:r>
                    </a:p>
                    <a:p>
                      <a:r>
                        <a:t>コンテンツ内容（タイトル・説明文）も言語に応じて切替。</a:t>
                      </a:r>
                    </a:p>
                  </a:txBody>
                  <a:tcP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360000" y="6426000"/>
            <a:ext cx="10440000" cy="216000"/>
          </a:xfrm>
          <a:prstGeom prst="rect">
            <a:avLst/>
          </a:prstGeom>
          <a:noFill/>
        </p:spPr>
        <p:txBody>
          <a:bodyPr wrap="square">
            <a:spAutoFit/>
          </a:bodyPr>
          <a:lstStyle/>
          <a:p>
            <a:pPr algn="l"/>
            <a:r>
              <a:rPr sz="1100" b="0">
                <a:solidFill>
                  <a:srgbClr val="444444"/>
                </a:solidFill>
                <a:latin typeface="Meiryo"/>
              </a:rPr>
              <a:t>※ ブックマーク・ダウンロード済みファイルはテーマ・言語変更の影響を受けません。</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32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4000" y="0"/>
            <a:ext cx="11832000" cy="432000"/>
          </a:xfrm>
          <a:prstGeom prst="rect">
            <a:avLst/>
          </a:prstGeom>
          <a:noFill/>
        </p:spPr>
        <p:txBody>
          <a:bodyPr wrap="none">
            <a:spAutoFit/>
          </a:bodyPr>
          <a:lstStyle/>
          <a:p>
            <a:pPr algn="l"/>
            <a:r>
              <a:rPr sz="1600" b="1">
                <a:solidFill>
                  <a:srgbClr val="FFFFFF"/>
                </a:solidFill>
                <a:latin typeface="Meiryo"/>
              </a:rPr>
              <a:t>5. 補足 — テスト用機能 / コンテンツ差し替え</a:t>
            </a:r>
          </a:p>
        </p:txBody>
      </p:sp>
      <p:sp>
        <p:nvSpPr>
          <p:cNvPr id="4" name="TextBox 3"/>
          <p:cNvSpPr txBox="1"/>
          <p:nvPr/>
        </p:nvSpPr>
        <p:spPr>
          <a:xfrm>
            <a:off x="11472000" y="6570000"/>
            <a:ext cx="540000" cy="251999"/>
          </a:xfrm>
          <a:prstGeom prst="rect">
            <a:avLst/>
          </a:prstGeom>
          <a:noFill/>
        </p:spPr>
        <p:txBody>
          <a:bodyPr wrap="square">
            <a:spAutoFit/>
          </a:bodyPr>
          <a:lstStyle/>
          <a:p>
            <a:pPr algn="r"/>
            <a:r>
              <a:rPr sz="1000" b="0">
                <a:solidFill>
                  <a:srgbClr val="444444"/>
                </a:solidFill>
                <a:latin typeface="Meiryo"/>
              </a:rPr>
              <a:t>12</a:t>
            </a:r>
          </a:p>
        </p:txBody>
      </p:sp>
      <p:sp>
        <p:nvSpPr>
          <p:cNvPr id="5" name="TextBox 4"/>
          <p:cNvSpPr txBox="1"/>
          <p:nvPr/>
        </p:nvSpPr>
        <p:spPr>
          <a:xfrm>
            <a:off x="360000" y="576000"/>
            <a:ext cx="10440000" cy="251999"/>
          </a:xfrm>
          <a:prstGeom prst="rect">
            <a:avLst/>
          </a:prstGeom>
          <a:noFill/>
        </p:spPr>
        <p:txBody>
          <a:bodyPr wrap="square">
            <a:spAutoFit/>
          </a:bodyPr>
          <a:lstStyle/>
          <a:p>
            <a:pPr algn="l"/>
            <a:r>
              <a:rPr sz="1500" b="1">
                <a:solidFill>
                  <a:srgbClr val="CC0000"/>
                </a:solidFill>
                <a:latin typeface="Meiryo"/>
              </a:rPr>
              <a:t>🧪 テスト用：ストレージ初期化ボタン</a:t>
            </a:r>
          </a:p>
        </p:txBody>
      </p:sp>
      <p:sp>
        <p:nvSpPr>
          <p:cNvPr id="6" name="TextBox 5"/>
          <p:cNvSpPr txBox="1"/>
          <p:nvPr/>
        </p:nvSpPr>
        <p:spPr>
          <a:xfrm>
            <a:off x="360000" y="864000"/>
            <a:ext cx="10440000" cy="648000"/>
          </a:xfrm>
          <a:prstGeom prst="rect">
            <a:avLst/>
          </a:prstGeom>
          <a:noFill/>
        </p:spPr>
        <p:txBody>
          <a:bodyPr wrap="square">
            <a:spAutoFit/>
          </a:bodyPr>
          <a:lstStyle/>
          <a:p>
            <a:pPr algn="l"/>
            <a:r>
              <a:rPr sz="1200" b="0">
                <a:solidFill>
                  <a:srgbClr val="000000"/>
                </a:solidFill>
                <a:latin typeface="Meiryo"/>
              </a:rPr>
              <a:t>コンテンツ一覧画面の最下部（フッター）に「ストレージを初期化 (テスト用)」ボタンがあります。
タップすると確認ダイアログが表示され、OK を選択するとダウンロード済みPDF全件＋ブックマーク等のデータがすべて削除されます。
⚠️ この操作は取り消せません。テスト・検証目的以外での使用は避けてください。</a:t>
            </a:r>
          </a:p>
        </p:txBody>
      </p:sp>
      <p:sp>
        <p:nvSpPr>
          <p:cNvPr id="7" name="Rectangle 6"/>
          <p:cNvSpPr/>
          <p:nvPr/>
        </p:nvSpPr>
        <p:spPr>
          <a:xfrm>
            <a:off x="360000" y="1584000"/>
            <a:ext cx="10260000" cy="108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0000" y="1656000"/>
            <a:ext cx="10440000" cy="251999"/>
          </a:xfrm>
          <a:prstGeom prst="rect">
            <a:avLst/>
          </a:prstGeom>
          <a:noFill/>
        </p:spPr>
        <p:txBody>
          <a:bodyPr wrap="square">
            <a:spAutoFit/>
          </a:bodyPr>
          <a:lstStyle/>
          <a:p>
            <a:pPr algn="l"/>
            <a:r>
              <a:rPr sz="1500" b="1">
                <a:solidFill>
                  <a:srgbClr val="CC0000"/>
                </a:solidFill>
                <a:latin typeface="Meiryo"/>
              </a:rPr>
              <a:t>📄 コンテンツ一覧の差し替え方法</a:t>
            </a:r>
          </a:p>
        </p:txBody>
      </p:sp>
      <p:sp>
        <p:nvSpPr>
          <p:cNvPr id="9" name="TextBox 8"/>
          <p:cNvSpPr txBox="1"/>
          <p:nvPr/>
        </p:nvSpPr>
        <p:spPr>
          <a:xfrm>
            <a:off x="360000" y="1944000"/>
            <a:ext cx="10440000" cy="648000"/>
          </a:xfrm>
          <a:prstGeom prst="rect">
            <a:avLst/>
          </a:prstGeom>
          <a:noFill/>
        </p:spPr>
        <p:txBody>
          <a:bodyPr wrap="square">
            <a:spAutoFit/>
          </a:bodyPr>
          <a:lstStyle/>
          <a:p>
            <a:pPr algn="l"/>
            <a:r>
              <a:rPr sz="1200" b="0">
                <a:solidFill>
                  <a:srgbClr val="000000"/>
                </a:solidFill>
                <a:latin typeface="Meiryo"/>
              </a:rPr>
              <a:t>表示されるコンテンツ（タイトル・説明・カテゴリー・ダウンロードURL等）は
アプリに同梱された「assets/contents.json」ファイルで管理されています。
このファイルを編集してアプリを再ビルドすることで、コンテンツ一覧を自由に差し替えられます。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91</TotalTime>
  <Words>1017</Words>
  <Application>Microsoft Macintosh PowerPoint</Application>
  <PresentationFormat>ワイド画面</PresentationFormat>
  <Paragraphs>181</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Meiryo</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Igarashi, Koki</cp:lastModifiedBy>
  <cp:revision>2</cp:revision>
  <dcterms:created xsi:type="dcterms:W3CDTF">2013-01-27T09:14:16Z</dcterms:created>
  <dcterms:modified xsi:type="dcterms:W3CDTF">2026-06-23T04:45:40Z</dcterms:modified>
  <cp:category/>
</cp:coreProperties>
</file>